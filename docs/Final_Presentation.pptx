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5" r:id="rId16"/>
    <p:sldId id="264"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61E6B1B-CC9E-4A57-9FAC-BEAC68AC436B}">
  <a:tblStyle styleId="{561E6B1B-CC9E-4A57-9FAC-BEAC68AC436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10.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7301541e4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7301541e4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 Links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7301541e4b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7301541e4b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7301541e4b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7301541e4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7301541e4b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7301541e4b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7301541e4b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7301541e4b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7301541e4b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7301541e4b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7301541e4b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7301541e4b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7301541e4b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7301541e4b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1.jpg"/><Relationship Id="rId5" Type="http://schemas.openxmlformats.org/officeDocument/2006/relationships/image" Target="../media/image4.png"/><Relationship Id="rId6"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EFFD"/>
        </a:solidFill>
      </p:bgPr>
    </p:bg>
    <p:spTree>
      <p:nvGrpSpPr>
        <p:cNvPr id="53" name="Shape 53"/>
        <p:cNvGrpSpPr/>
        <p:nvPr/>
      </p:nvGrpSpPr>
      <p:grpSpPr>
        <a:xfrm>
          <a:off x="0" y="0"/>
          <a:ext cx="0" cy="0"/>
          <a:chOff x="0" y="0"/>
          <a:chExt cx="0" cy="0"/>
        </a:xfrm>
      </p:grpSpPr>
      <p:sp>
        <p:nvSpPr>
          <p:cNvPr id="54" name="Google Shape;54;p13"/>
          <p:cNvSpPr txBox="1"/>
          <p:nvPr/>
        </p:nvSpPr>
        <p:spPr>
          <a:xfrm>
            <a:off x="354375" y="2152575"/>
            <a:ext cx="8334600" cy="1920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2400"/>
              </a:spcBef>
              <a:spcAft>
                <a:spcPts val="0"/>
              </a:spcAft>
              <a:buNone/>
            </a:pPr>
            <a:r>
              <a:rPr b="1" lang="en" sz="2300">
                <a:solidFill>
                  <a:schemeClr val="dk2"/>
                </a:solidFill>
                <a:latin typeface="Inter"/>
                <a:ea typeface="Inter"/>
                <a:cs typeface="Inter"/>
                <a:sym typeface="Inter"/>
              </a:rPr>
              <a:t>AI-Powered Document Insights and Data Extraction </a:t>
            </a:r>
            <a:endParaRPr sz="3800">
              <a:solidFill>
                <a:schemeClr val="dk2"/>
              </a:solidFill>
              <a:latin typeface="Inter"/>
              <a:ea typeface="Inter"/>
              <a:cs typeface="Inter"/>
              <a:sym typeface="Inter"/>
            </a:endParaRPr>
          </a:p>
          <a:p>
            <a:pPr indent="0" lvl="0" marL="0" rtl="0" algn="l">
              <a:lnSpc>
                <a:spcPct val="90000"/>
              </a:lnSpc>
              <a:spcBef>
                <a:spcPts val="600"/>
              </a:spcBef>
              <a:spcAft>
                <a:spcPts val="0"/>
              </a:spcAft>
              <a:buNone/>
            </a:pPr>
            <a:r>
              <a:t/>
            </a:r>
            <a:endParaRPr sz="2200">
              <a:solidFill>
                <a:schemeClr val="dk2"/>
              </a:solidFill>
              <a:latin typeface="Trebuchet MS"/>
              <a:ea typeface="Trebuchet MS"/>
              <a:cs typeface="Trebuchet MS"/>
              <a:sym typeface="Trebuchet MS"/>
            </a:endParaRPr>
          </a:p>
          <a:p>
            <a:pPr indent="0" lvl="0" marL="0" rtl="0" algn="l">
              <a:lnSpc>
                <a:spcPct val="90000"/>
              </a:lnSpc>
              <a:spcBef>
                <a:spcPts val="0"/>
              </a:spcBef>
              <a:spcAft>
                <a:spcPts val="0"/>
              </a:spcAft>
              <a:buNone/>
            </a:pPr>
            <a:r>
              <a:rPr lang="en" sz="1700">
                <a:solidFill>
                  <a:schemeClr val="dk2"/>
                </a:solidFill>
                <a:latin typeface="Inter"/>
                <a:ea typeface="Inter"/>
                <a:cs typeface="Inter"/>
                <a:sym typeface="Inter"/>
              </a:rPr>
              <a:t>Name: Bashar</a:t>
            </a:r>
            <a:br>
              <a:rPr lang="en" sz="1700">
                <a:solidFill>
                  <a:schemeClr val="dk2"/>
                </a:solidFill>
                <a:latin typeface="Inter"/>
                <a:ea typeface="Inter"/>
                <a:cs typeface="Inter"/>
                <a:sym typeface="Inter"/>
              </a:rPr>
            </a:br>
            <a:endParaRPr sz="1700">
              <a:solidFill>
                <a:schemeClr val="dk2"/>
              </a:solidFill>
              <a:latin typeface="Inter"/>
              <a:ea typeface="Inter"/>
              <a:cs typeface="Inter"/>
              <a:sym typeface="Inter"/>
            </a:endParaRPr>
          </a:p>
          <a:p>
            <a:pPr indent="0" lvl="0" marL="0" rtl="0" algn="l">
              <a:lnSpc>
                <a:spcPct val="90000"/>
              </a:lnSpc>
              <a:spcBef>
                <a:spcPts val="0"/>
              </a:spcBef>
              <a:spcAft>
                <a:spcPts val="0"/>
              </a:spcAft>
              <a:buNone/>
            </a:pPr>
            <a:r>
              <a:rPr lang="en" sz="3800">
                <a:solidFill>
                  <a:srgbClr val="FFFFFF"/>
                </a:solidFill>
                <a:latin typeface="Inter"/>
                <a:ea typeface="Inter"/>
                <a:cs typeface="Inter"/>
                <a:sym typeface="Inter"/>
              </a:rPr>
              <a:t> </a:t>
            </a:r>
            <a:endParaRPr sz="3800">
              <a:solidFill>
                <a:srgbClr val="FFFFFF"/>
              </a:solidFill>
              <a:latin typeface="Inter"/>
              <a:ea typeface="Inter"/>
              <a:cs typeface="Inter"/>
              <a:sym typeface="Inter"/>
            </a:endParaRPr>
          </a:p>
          <a:p>
            <a:pPr indent="0" lvl="0" marL="0" rtl="0" algn="l">
              <a:lnSpc>
                <a:spcPct val="90000"/>
              </a:lnSpc>
              <a:spcBef>
                <a:spcPts val="0"/>
              </a:spcBef>
              <a:spcAft>
                <a:spcPts val="0"/>
              </a:spcAft>
              <a:buNone/>
            </a:pPr>
            <a:r>
              <a:t/>
            </a:r>
            <a:endParaRPr sz="3800">
              <a:solidFill>
                <a:srgbClr val="FFFFFF"/>
              </a:solidFill>
              <a:latin typeface="Trebuchet MS"/>
              <a:ea typeface="Trebuchet MS"/>
              <a:cs typeface="Trebuchet MS"/>
              <a:sym typeface="Trebuchet MS"/>
            </a:endParaRPr>
          </a:p>
        </p:txBody>
      </p:sp>
      <p:cxnSp>
        <p:nvCxnSpPr>
          <p:cNvPr id="55" name="Google Shape;55;p13"/>
          <p:cNvCxnSpPr/>
          <p:nvPr/>
        </p:nvCxnSpPr>
        <p:spPr>
          <a:xfrm>
            <a:off x="337650" y="2776875"/>
            <a:ext cx="8300400" cy="30300"/>
          </a:xfrm>
          <a:prstGeom prst="straightConnector1">
            <a:avLst/>
          </a:prstGeom>
          <a:noFill/>
          <a:ln cap="flat" cmpd="sng" w="19050">
            <a:solidFill>
              <a:schemeClr val="dk2"/>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nvSpPr>
        <p:spPr>
          <a:xfrm>
            <a:off x="495000" y="363725"/>
            <a:ext cx="8154000" cy="5448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None/>
            </a:pPr>
            <a:r>
              <a:rPr lang="en" sz="1600">
                <a:solidFill>
                  <a:schemeClr val="dk2"/>
                </a:solidFill>
                <a:latin typeface="Inter"/>
                <a:ea typeface="Inter"/>
                <a:cs typeface="Inter"/>
                <a:sym typeface="Inter"/>
              </a:rPr>
              <a:t>Problem Statement | Pharmaceutical Document Intelligence</a:t>
            </a:r>
            <a:endParaRPr sz="1600">
              <a:solidFill>
                <a:schemeClr val="dk2"/>
              </a:solidFill>
              <a:latin typeface="Inter"/>
              <a:ea typeface="Inter"/>
              <a:cs typeface="Inter"/>
              <a:sym typeface="Inter"/>
            </a:endParaRPr>
          </a:p>
          <a:p>
            <a:pPr indent="0" lvl="0" marL="0" rtl="0" algn="l">
              <a:lnSpc>
                <a:spcPct val="115000"/>
              </a:lnSpc>
              <a:spcBef>
                <a:spcPts val="1200"/>
              </a:spcBef>
              <a:spcAft>
                <a:spcPts val="1200"/>
              </a:spcAft>
              <a:buNone/>
            </a:pPr>
            <a:r>
              <a:rPr i="1" lang="en" sz="1100"/>
              <a:t>Answering compliance questions from bundled, partly scanned supplier PDFs, with every answer traced to its page.</a:t>
            </a:r>
            <a:endParaRPr i="1" sz="1100"/>
          </a:p>
        </p:txBody>
      </p:sp>
      <p:sp>
        <p:nvSpPr>
          <p:cNvPr id="61" name="Google Shape;61;p14"/>
          <p:cNvSpPr txBox="1"/>
          <p:nvPr/>
        </p:nvSpPr>
        <p:spPr>
          <a:xfrm>
            <a:off x="471502" y="2100223"/>
            <a:ext cx="708000" cy="238500"/>
          </a:xfrm>
          <a:prstGeom prst="rect">
            <a:avLst/>
          </a:prstGeom>
          <a:noFill/>
          <a:ln>
            <a:noFill/>
          </a:ln>
        </p:spPr>
        <p:txBody>
          <a:bodyPr anchorCtr="0" anchor="t" bIns="34275" lIns="0" spcFirstLastPara="1" rIns="0" wrap="square" tIns="34275">
            <a:spAutoFit/>
          </a:bodyPr>
          <a:lstStyle/>
          <a:p>
            <a:pPr indent="0" lvl="1" marL="0" marR="0" rtl="0" algn="l">
              <a:spcBef>
                <a:spcPts val="0"/>
              </a:spcBef>
              <a:spcAft>
                <a:spcPts val="0"/>
              </a:spcAft>
              <a:buNone/>
            </a:pPr>
            <a:r>
              <a:rPr lang="en" sz="1100">
                <a:solidFill>
                  <a:srgbClr val="E71B56"/>
                </a:solidFill>
                <a:latin typeface="Inter"/>
                <a:ea typeface="Inter"/>
                <a:cs typeface="Inter"/>
                <a:sym typeface="Inter"/>
              </a:rPr>
              <a:t>Challenge</a:t>
            </a:r>
            <a:endParaRPr i="0" sz="1100" u="none" cap="none" strike="noStrike">
              <a:solidFill>
                <a:srgbClr val="E71B56"/>
              </a:solidFill>
              <a:latin typeface="Inter"/>
              <a:ea typeface="Inter"/>
              <a:cs typeface="Inter"/>
              <a:sym typeface="Inter"/>
            </a:endParaRPr>
          </a:p>
        </p:txBody>
      </p:sp>
      <p:cxnSp>
        <p:nvCxnSpPr>
          <p:cNvPr id="62" name="Google Shape;62;p14"/>
          <p:cNvCxnSpPr/>
          <p:nvPr/>
        </p:nvCxnSpPr>
        <p:spPr>
          <a:xfrm>
            <a:off x="1423150" y="1397000"/>
            <a:ext cx="0" cy="3058500"/>
          </a:xfrm>
          <a:prstGeom prst="straightConnector1">
            <a:avLst/>
          </a:prstGeom>
          <a:noFill/>
          <a:ln cap="flat" cmpd="sng" w="19050">
            <a:solidFill>
              <a:srgbClr val="9A9A9A"/>
            </a:solidFill>
            <a:prstDash val="dot"/>
            <a:round/>
            <a:headEnd len="sm" w="sm" type="none"/>
            <a:tailEnd len="sm" w="sm" type="none"/>
          </a:ln>
        </p:spPr>
      </p:cxnSp>
      <p:sp>
        <p:nvSpPr>
          <p:cNvPr id="63" name="Google Shape;63;p14"/>
          <p:cNvSpPr txBox="1"/>
          <p:nvPr/>
        </p:nvSpPr>
        <p:spPr>
          <a:xfrm>
            <a:off x="471489" y="3742000"/>
            <a:ext cx="810000" cy="238500"/>
          </a:xfrm>
          <a:prstGeom prst="rect">
            <a:avLst/>
          </a:prstGeom>
          <a:noFill/>
          <a:ln>
            <a:noFill/>
          </a:ln>
        </p:spPr>
        <p:txBody>
          <a:bodyPr anchorCtr="0" anchor="t" bIns="34275" lIns="0" spcFirstLastPara="1" rIns="0" wrap="square" tIns="34275">
            <a:spAutoFit/>
          </a:bodyPr>
          <a:lstStyle/>
          <a:p>
            <a:pPr indent="0" lvl="1" marL="0" marR="0" rtl="0" algn="ctr">
              <a:spcBef>
                <a:spcPts val="0"/>
              </a:spcBef>
              <a:spcAft>
                <a:spcPts val="0"/>
              </a:spcAft>
              <a:buNone/>
            </a:pPr>
            <a:r>
              <a:rPr lang="en" sz="1100">
                <a:solidFill>
                  <a:srgbClr val="E71B56"/>
                </a:solidFill>
                <a:latin typeface="Inter"/>
                <a:ea typeface="Inter"/>
                <a:cs typeface="Inter"/>
                <a:sym typeface="Inter"/>
              </a:rPr>
              <a:t>Solution</a:t>
            </a:r>
            <a:endParaRPr i="0" sz="1100" u="none" cap="none" strike="noStrike">
              <a:solidFill>
                <a:srgbClr val="E71B56"/>
              </a:solidFill>
              <a:latin typeface="Inter"/>
              <a:ea typeface="Inter"/>
              <a:cs typeface="Inter"/>
              <a:sym typeface="Inter"/>
            </a:endParaRPr>
          </a:p>
        </p:txBody>
      </p:sp>
      <p:sp>
        <p:nvSpPr>
          <p:cNvPr id="64" name="Google Shape;64;p14"/>
          <p:cNvSpPr txBox="1"/>
          <p:nvPr/>
        </p:nvSpPr>
        <p:spPr>
          <a:xfrm>
            <a:off x="1484450" y="1397000"/>
            <a:ext cx="2787000" cy="1046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000">
                <a:solidFill>
                  <a:schemeClr val="dk2"/>
                </a:solidFill>
              </a:rPr>
              <a:t>Supplier documentation arrives as multi-document PDF bundles: certificates, declarations and specifications stitched together, often scanned, with key values locked in tables. Finding one lot's expiry date means opening the right file and the right page by hand.</a:t>
            </a:r>
            <a:endParaRPr sz="1000">
              <a:solidFill>
                <a:schemeClr val="dk2"/>
              </a:solidFill>
              <a:latin typeface="Trebuchet MS"/>
              <a:ea typeface="Trebuchet MS"/>
              <a:cs typeface="Trebuchet MS"/>
              <a:sym typeface="Trebuchet MS"/>
            </a:endParaRPr>
          </a:p>
        </p:txBody>
      </p:sp>
      <p:cxnSp>
        <p:nvCxnSpPr>
          <p:cNvPr id="65" name="Google Shape;65;p14"/>
          <p:cNvCxnSpPr/>
          <p:nvPr/>
        </p:nvCxnSpPr>
        <p:spPr>
          <a:xfrm>
            <a:off x="551899" y="2878672"/>
            <a:ext cx="3719400" cy="0"/>
          </a:xfrm>
          <a:prstGeom prst="straightConnector1">
            <a:avLst/>
          </a:prstGeom>
          <a:noFill/>
          <a:ln cap="flat" cmpd="sng" w="9525">
            <a:solidFill>
              <a:srgbClr val="9A9A9A"/>
            </a:solidFill>
            <a:prstDash val="dot"/>
            <a:round/>
            <a:headEnd len="sm" w="sm" type="none"/>
            <a:tailEnd len="sm" w="sm" type="none"/>
          </a:ln>
        </p:spPr>
      </p:cxnSp>
      <p:sp>
        <p:nvSpPr>
          <p:cNvPr id="66" name="Google Shape;66;p14"/>
          <p:cNvSpPr txBox="1"/>
          <p:nvPr/>
        </p:nvSpPr>
        <p:spPr>
          <a:xfrm>
            <a:off x="1484079" y="3051850"/>
            <a:ext cx="2787000" cy="869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000">
                <a:solidFill>
                  <a:schemeClr val="dk2"/>
                </a:solidFill>
                <a:latin typeface="Inter"/>
                <a:ea typeface="Inter"/>
                <a:cs typeface="Inter"/>
                <a:sym typeface="Inter"/>
              </a:rPr>
              <a:t>An open-source RAG pipeline: OCR for scanned pages, automatic splitting into typed documents, routed vector search over line-aware chunks, and a local LLM that answers with page citations and a confidence level.</a:t>
            </a:r>
            <a:endParaRPr sz="1000">
              <a:solidFill>
                <a:schemeClr val="dk2"/>
              </a:solidFill>
              <a:latin typeface="Inter"/>
              <a:ea typeface="Inter"/>
              <a:cs typeface="Inter"/>
              <a:sym typeface="Inter"/>
            </a:endParaRPr>
          </a:p>
        </p:txBody>
      </p:sp>
      <p:grpSp>
        <p:nvGrpSpPr>
          <p:cNvPr id="67" name="Google Shape;67;p14"/>
          <p:cNvGrpSpPr/>
          <p:nvPr/>
        </p:nvGrpSpPr>
        <p:grpSpPr>
          <a:xfrm>
            <a:off x="4271079" y="1291150"/>
            <a:ext cx="275095" cy="3387641"/>
            <a:chOff x="5942914" y="2299356"/>
            <a:chExt cx="306171" cy="3861000"/>
          </a:xfrm>
        </p:grpSpPr>
        <p:cxnSp>
          <p:nvCxnSpPr>
            <p:cNvPr id="68" name="Google Shape;68;p14"/>
            <p:cNvCxnSpPr/>
            <p:nvPr/>
          </p:nvCxnSpPr>
          <p:spPr>
            <a:xfrm>
              <a:off x="6095998" y="2299356"/>
              <a:ext cx="0" cy="3861000"/>
            </a:xfrm>
            <a:prstGeom prst="straightConnector1">
              <a:avLst/>
            </a:prstGeom>
            <a:noFill/>
            <a:ln cap="rnd" cmpd="sng" w="9525">
              <a:solidFill>
                <a:srgbClr val="9A9A9A"/>
              </a:solidFill>
              <a:prstDash val="solid"/>
              <a:round/>
              <a:headEnd len="sm" w="sm" type="none"/>
              <a:tailEnd len="sm" w="sm" type="none"/>
            </a:ln>
          </p:spPr>
        </p:cxnSp>
        <p:grpSp>
          <p:nvGrpSpPr>
            <p:cNvPr id="69" name="Google Shape;69;p14"/>
            <p:cNvGrpSpPr/>
            <p:nvPr/>
          </p:nvGrpSpPr>
          <p:grpSpPr>
            <a:xfrm>
              <a:off x="5942914" y="3967299"/>
              <a:ext cx="306171" cy="306910"/>
              <a:chOff x="5937564" y="3833745"/>
              <a:chExt cx="306171" cy="306910"/>
            </a:xfrm>
          </p:grpSpPr>
          <p:sp>
            <p:nvSpPr>
              <p:cNvPr id="70" name="Google Shape;70;p14"/>
              <p:cNvSpPr/>
              <p:nvPr/>
            </p:nvSpPr>
            <p:spPr>
              <a:xfrm>
                <a:off x="5937564" y="3833745"/>
                <a:ext cx="306171" cy="306910"/>
              </a:xfrm>
              <a:custGeom>
                <a:rect b="b" l="l" r="r" t="t"/>
                <a:pathLst>
                  <a:path extrusionOk="0" h="1052" w="1052">
                    <a:moveTo>
                      <a:pt x="0" y="526"/>
                    </a:moveTo>
                    <a:cubicBezTo>
                      <a:pt x="0" y="526"/>
                      <a:pt x="0" y="526"/>
                      <a:pt x="0" y="526"/>
                    </a:cubicBezTo>
                    <a:cubicBezTo>
                      <a:pt x="0" y="236"/>
                      <a:pt x="236" y="0"/>
                      <a:pt x="526" y="0"/>
                    </a:cubicBezTo>
                    <a:cubicBezTo>
                      <a:pt x="817" y="0"/>
                      <a:pt x="1052" y="236"/>
                      <a:pt x="1052" y="526"/>
                    </a:cubicBezTo>
                    <a:cubicBezTo>
                      <a:pt x="1052" y="526"/>
                      <a:pt x="1052" y="526"/>
                      <a:pt x="1052" y="526"/>
                    </a:cubicBezTo>
                    <a:cubicBezTo>
                      <a:pt x="1052" y="817"/>
                      <a:pt x="817" y="1052"/>
                      <a:pt x="526" y="1052"/>
                    </a:cubicBezTo>
                    <a:cubicBezTo>
                      <a:pt x="526" y="1052"/>
                      <a:pt x="526" y="1052"/>
                      <a:pt x="526" y="1052"/>
                    </a:cubicBezTo>
                    <a:cubicBezTo>
                      <a:pt x="236" y="1052"/>
                      <a:pt x="0" y="817"/>
                      <a:pt x="0" y="526"/>
                    </a:cubicBezTo>
                    <a:close/>
                  </a:path>
                </a:pathLst>
              </a:custGeom>
              <a:solidFill>
                <a:srgbClr val="1C75BD"/>
              </a:solidFill>
              <a:ln cap="flat" cmpd="sng" w="9525">
                <a:solidFill>
                  <a:srgbClr val="1C75BD"/>
                </a:solidFill>
                <a:prstDash val="solid"/>
                <a:round/>
                <a:headEnd len="sm" w="sm" type="none"/>
                <a:tailEnd len="sm" w="sm" type="none"/>
              </a:ln>
            </p:spPr>
            <p:txBody>
              <a:bodyPr anchorCtr="0" anchor="t" bIns="44300" lIns="88625" spcFirstLastPara="1" rIns="88625" wrap="square" tIns="44300">
                <a:noAutofit/>
              </a:bodyPr>
              <a:lstStyle/>
              <a:p>
                <a:pPr indent="0" lvl="0" marL="0" marR="0" rtl="0" algn="l">
                  <a:spcBef>
                    <a:spcPts val="0"/>
                  </a:spcBef>
                  <a:spcAft>
                    <a:spcPts val="0"/>
                  </a:spcAft>
                  <a:buNone/>
                </a:pPr>
                <a:r>
                  <a:t/>
                </a:r>
                <a:endParaRPr sz="1800">
                  <a:solidFill>
                    <a:srgbClr val="6E6F73"/>
                  </a:solidFill>
                  <a:latin typeface="Trebuchet MS"/>
                  <a:ea typeface="Trebuchet MS"/>
                  <a:cs typeface="Trebuchet MS"/>
                  <a:sym typeface="Trebuchet MS"/>
                </a:endParaRPr>
              </a:p>
            </p:txBody>
          </p:sp>
          <p:sp>
            <p:nvSpPr>
              <p:cNvPr id="71" name="Google Shape;71;p14"/>
              <p:cNvSpPr/>
              <p:nvPr/>
            </p:nvSpPr>
            <p:spPr>
              <a:xfrm>
                <a:off x="6053995" y="3876005"/>
                <a:ext cx="120251" cy="224730"/>
              </a:xfrm>
              <a:custGeom>
                <a:rect b="b" l="l" r="r" t="t"/>
                <a:pathLst>
                  <a:path extrusionOk="0" h="1824" w="976">
                    <a:moveTo>
                      <a:pt x="66" y="1824"/>
                    </a:moveTo>
                    <a:lnTo>
                      <a:pt x="0" y="1758"/>
                    </a:lnTo>
                    <a:lnTo>
                      <a:pt x="843" y="912"/>
                    </a:lnTo>
                    <a:lnTo>
                      <a:pt x="0" y="66"/>
                    </a:lnTo>
                    <a:lnTo>
                      <a:pt x="66" y="0"/>
                    </a:lnTo>
                    <a:lnTo>
                      <a:pt x="976" y="912"/>
                    </a:lnTo>
                    <a:lnTo>
                      <a:pt x="66" y="1824"/>
                    </a:lnTo>
                    <a:close/>
                  </a:path>
                </a:pathLst>
              </a:custGeom>
              <a:solidFill>
                <a:srgbClr val="FFFFFF"/>
              </a:solidFill>
              <a:ln>
                <a:noFill/>
              </a:ln>
            </p:spPr>
            <p:txBody>
              <a:bodyPr anchorCtr="0" anchor="t" bIns="44300" lIns="88625" spcFirstLastPara="1" rIns="88625" wrap="square" tIns="44300">
                <a:noAutofit/>
              </a:bodyPr>
              <a:lstStyle/>
              <a:p>
                <a:pPr indent="0" lvl="0" marL="0" marR="0" rtl="0" algn="l">
                  <a:spcBef>
                    <a:spcPts val="0"/>
                  </a:spcBef>
                  <a:spcAft>
                    <a:spcPts val="0"/>
                  </a:spcAft>
                  <a:buNone/>
                </a:pPr>
                <a:r>
                  <a:t/>
                </a:r>
                <a:endParaRPr sz="1800">
                  <a:solidFill>
                    <a:srgbClr val="6E6F73"/>
                  </a:solidFill>
                  <a:latin typeface="Trebuchet MS"/>
                  <a:ea typeface="Trebuchet MS"/>
                  <a:cs typeface="Trebuchet MS"/>
                  <a:sym typeface="Trebuchet MS"/>
                </a:endParaRPr>
              </a:p>
            </p:txBody>
          </p:sp>
        </p:grpSp>
      </p:grpSp>
      <p:graphicFrame>
        <p:nvGraphicFramePr>
          <p:cNvPr id="72" name="Google Shape;72;p14"/>
          <p:cNvGraphicFramePr/>
          <p:nvPr/>
        </p:nvGraphicFramePr>
        <p:xfrm>
          <a:off x="4701200" y="1186175"/>
          <a:ext cx="3000000" cy="3000000"/>
        </p:xfrm>
        <a:graphic>
          <a:graphicData uri="http://schemas.openxmlformats.org/drawingml/2006/table">
            <a:tbl>
              <a:tblPr>
                <a:noFill/>
                <a:tableStyleId>{561E6B1B-CC9E-4A57-9FAC-BEAC68AC436B}</a:tableStyleId>
              </a:tblPr>
              <a:tblGrid>
                <a:gridCol w="1677650"/>
                <a:gridCol w="2117125"/>
              </a:tblGrid>
              <a:tr h="261250">
                <a:tc>
                  <a:txBody>
                    <a:bodyPr/>
                    <a:lstStyle/>
                    <a:p>
                      <a:pPr indent="0" lvl="0" marL="0" rtl="0" algn="l">
                        <a:spcBef>
                          <a:spcPts val="0"/>
                        </a:spcBef>
                        <a:spcAft>
                          <a:spcPts val="0"/>
                        </a:spcAft>
                        <a:buNone/>
                      </a:pPr>
                      <a:r>
                        <a:t/>
                      </a:r>
                      <a:endParaRPr sz="1500"/>
                    </a:p>
                  </a:txBody>
                  <a:tcPr marT="19050" marB="19050" marR="28575" marL="28575" anchor="b"/>
                </a:tc>
                <a:tc>
                  <a:txBody>
                    <a:bodyPr/>
                    <a:lstStyle/>
                    <a:p>
                      <a:pPr indent="0" lvl="0" marL="0" rtl="0" algn="l">
                        <a:spcBef>
                          <a:spcPts val="0"/>
                        </a:spcBef>
                        <a:spcAft>
                          <a:spcPts val="0"/>
                        </a:spcAft>
                        <a:buNone/>
                      </a:pPr>
                      <a:r>
                        <a:t/>
                      </a:r>
                      <a:endParaRPr sz="1500"/>
                    </a:p>
                  </a:txBody>
                  <a:tcPr marT="19050" marB="19050" marR="28575" marL="28575" anchor="b"/>
                </a:tc>
              </a:tr>
              <a:tr h="217725">
                <a:tc>
                  <a:txBody>
                    <a:bodyPr/>
                    <a:lstStyle/>
                    <a:p>
                      <a:pPr indent="0" lvl="0" marL="457200" rtl="0" algn="l">
                        <a:lnSpc>
                          <a:spcPct val="115000"/>
                        </a:lnSpc>
                        <a:spcBef>
                          <a:spcPts val="0"/>
                        </a:spcBef>
                        <a:spcAft>
                          <a:spcPts val="0"/>
                        </a:spcAft>
                        <a:buNone/>
                      </a:pPr>
                      <a:r>
                        <a:rPr lang="en" sz="1200">
                          <a:solidFill>
                            <a:srgbClr val="E71B56"/>
                          </a:solidFill>
                          <a:latin typeface="Trebuchet MS"/>
                          <a:ea typeface="Trebuchet MS"/>
                          <a:cs typeface="Trebuchet MS"/>
                          <a:sym typeface="Trebuchet MS"/>
                        </a:rPr>
                        <a:t>Pain Point</a:t>
                      </a:r>
                      <a:endParaRPr sz="1200">
                        <a:solidFill>
                          <a:srgbClr val="E71B56"/>
                        </a:solidFill>
                        <a:latin typeface="Trebuchet MS"/>
                        <a:ea typeface="Trebuchet MS"/>
                        <a:cs typeface="Trebuchet MS"/>
                        <a:sym typeface="Trebuchet MS"/>
                      </a:endParaRPr>
                    </a:p>
                  </a:txBody>
                  <a:tcPr marT="19050" marB="19050" marR="28575" marL="28575" anchor="b">
                    <a:lnB cap="flat" cmpd="sng" w="9525">
                      <a:solidFill>
                        <a:srgbClr val="000000"/>
                      </a:solidFill>
                      <a:prstDash val="solid"/>
                      <a:round/>
                      <a:headEnd len="sm" w="sm" type="none"/>
                      <a:tailEnd len="sm" w="sm" type="none"/>
                    </a:lnB>
                  </a:tcPr>
                </a:tc>
                <a:tc>
                  <a:txBody>
                    <a:bodyPr/>
                    <a:lstStyle/>
                    <a:p>
                      <a:pPr indent="0" lvl="0" marL="457200" rtl="0" algn="l">
                        <a:lnSpc>
                          <a:spcPct val="115000"/>
                        </a:lnSpc>
                        <a:spcBef>
                          <a:spcPts val="0"/>
                        </a:spcBef>
                        <a:spcAft>
                          <a:spcPts val="0"/>
                        </a:spcAft>
                        <a:buNone/>
                      </a:pPr>
                      <a:r>
                        <a:rPr lang="en" sz="1200">
                          <a:solidFill>
                            <a:srgbClr val="E71B56"/>
                          </a:solidFill>
                          <a:latin typeface="Trebuchet MS"/>
                          <a:ea typeface="Trebuchet MS"/>
                          <a:cs typeface="Trebuchet MS"/>
                          <a:sym typeface="Trebuchet MS"/>
                        </a:rPr>
                        <a:t>How Your Pipeline Solves It</a:t>
                      </a:r>
                      <a:endParaRPr sz="1200">
                        <a:solidFill>
                          <a:srgbClr val="E71B56"/>
                        </a:solidFill>
                        <a:latin typeface="Trebuchet MS"/>
                        <a:ea typeface="Trebuchet MS"/>
                        <a:cs typeface="Trebuchet MS"/>
                        <a:sym typeface="Trebuchet MS"/>
                      </a:endParaRPr>
                    </a:p>
                  </a:txBody>
                  <a:tcPr marT="19050" marB="19050" marR="28575" marL="28575" anchor="b">
                    <a:lnB cap="flat" cmpd="sng" w="9525">
                      <a:solidFill>
                        <a:srgbClr val="000000"/>
                      </a:solidFill>
                      <a:prstDash val="solid"/>
                      <a:round/>
                      <a:headEnd len="sm" w="sm" type="none"/>
                      <a:tailEnd len="sm" w="sm" type="none"/>
                    </a:lnB>
                  </a:tcPr>
                </a:tc>
              </a:tr>
              <a:tr h="544275">
                <a:tc>
                  <a:txBody>
                    <a:bodyPr/>
                    <a:lstStyle/>
                    <a:p>
                      <a:pPr indent="0" lvl="0" marL="0" rtl="0" algn="l">
                        <a:lnSpc>
                          <a:spcPct val="115000"/>
                        </a:lnSpc>
                        <a:spcBef>
                          <a:spcPts val="0"/>
                        </a:spcBef>
                        <a:spcAft>
                          <a:spcPts val="0"/>
                        </a:spcAft>
                        <a:buNone/>
                      </a:pPr>
                      <a:r>
                        <a:rPr lang="en" sz="1000">
                          <a:solidFill>
                            <a:srgbClr val="6E6F73"/>
                          </a:solidFill>
                          <a:latin typeface="Trebuchet MS"/>
                          <a:ea typeface="Trebuchet MS"/>
                          <a:cs typeface="Trebuchet MS"/>
                          <a:sym typeface="Trebuchet MS"/>
                        </a:rPr>
                        <a:t>Scanned pages have no text layer</a:t>
                      </a:r>
                      <a:endParaRPr sz="1000">
                        <a:solidFill>
                          <a:srgbClr val="6E6F73"/>
                        </a:solidFill>
                        <a:latin typeface="Trebuchet MS"/>
                        <a:ea typeface="Trebuchet MS"/>
                        <a:cs typeface="Trebuchet MS"/>
                        <a:sym typeface="Trebuchet MS"/>
                      </a:endParaRPr>
                    </a:p>
                  </a:txBody>
                  <a:tcPr marT="19050" marB="19050" marR="28575" marL="28575" anchor="b">
                    <a:lnT cap="flat" cmpd="sng" w="9525">
                      <a:solidFill>
                        <a:srgbClr val="000000"/>
                      </a:solidFill>
                      <a:prstDash val="solid"/>
                      <a:round/>
                      <a:headEnd len="sm" w="sm" type="none"/>
                      <a:tailEnd len="sm" w="sm" type="none"/>
                    </a:lnT>
                    <a:lnB cap="flat" cmpd="sng" w="9525">
                      <a:solidFill>
                        <a:srgbClr val="000000"/>
                      </a:solidFill>
                      <a:prstDash val="dash"/>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rgbClr val="6E6F73"/>
                          </a:solidFill>
                          <a:latin typeface="Trebuchet MS"/>
                          <a:ea typeface="Trebuchet MS"/>
                          <a:cs typeface="Trebuchet MS"/>
                          <a:sym typeface="Trebuchet MS"/>
                        </a:rPr>
                        <a:t>Deskew + EasyOCR + table-row rebuild (99.5% word recall)</a:t>
                      </a:r>
                      <a:endParaRPr sz="1000">
                        <a:solidFill>
                          <a:srgbClr val="6E6F73"/>
                        </a:solidFill>
                        <a:latin typeface="Trebuchet MS"/>
                        <a:ea typeface="Trebuchet MS"/>
                        <a:cs typeface="Trebuchet MS"/>
                        <a:sym typeface="Trebuchet MS"/>
                      </a:endParaRPr>
                    </a:p>
                  </a:txBody>
                  <a:tcPr marT="19050" marB="19050" marR="28575" marL="28575" anchor="b">
                    <a:lnT cap="flat" cmpd="sng" w="9525">
                      <a:solidFill>
                        <a:srgbClr val="000000"/>
                      </a:solidFill>
                      <a:prstDash val="solid"/>
                      <a:round/>
                      <a:headEnd len="sm" w="sm" type="none"/>
                      <a:tailEnd len="sm" w="sm" type="none"/>
                    </a:lnT>
                    <a:lnB cap="flat" cmpd="sng" w="9525">
                      <a:solidFill>
                        <a:srgbClr val="000000"/>
                      </a:solidFill>
                      <a:prstDash val="dash"/>
                      <a:round/>
                      <a:headEnd len="sm" w="sm" type="none"/>
                      <a:tailEnd len="sm" w="sm" type="none"/>
                    </a:lnB>
                  </a:tcPr>
                </a:tc>
              </a:tr>
              <a:tr h="544275">
                <a:tc>
                  <a:txBody>
                    <a:bodyPr/>
                    <a:lstStyle/>
                    <a:p>
                      <a:pPr indent="0" lvl="0" marL="0" rtl="0" algn="l">
                        <a:lnSpc>
                          <a:spcPct val="115000"/>
                        </a:lnSpc>
                        <a:spcBef>
                          <a:spcPts val="0"/>
                        </a:spcBef>
                        <a:spcAft>
                          <a:spcPts val="0"/>
                        </a:spcAft>
                        <a:buNone/>
                      </a:pPr>
                      <a:r>
                        <a:rPr lang="en" sz="1000">
                          <a:solidFill>
                            <a:srgbClr val="6E6F73"/>
                          </a:solidFill>
                          <a:latin typeface="Trebuchet MS"/>
                          <a:ea typeface="Trebuchet MS"/>
                          <a:cs typeface="Trebuchet MS"/>
                          <a:sym typeface="Trebuchet MS"/>
                        </a:rPr>
                        <a:t>Many documents in one PDF</a:t>
                      </a:r>
                      <a:endParaRPr sz="1000">
                        <a:solidFill>
                          <a:srgbClr val="6E6F73"/>
                        </a:solidFill>
                        <a:latin typeface="Trebuchet MS"/>
                        <a:ea typeface="Trebuchet MS"/>
                        <a:cs typeface="Trebuchet MS"/>
                        <a:sym typeface="Trebuchet MS"/>
                      </a:endParaRPr>
                    </a:p>
                  </a:txBody>
                  <a:tcPr marT="19050" marB="19050" marR="28575" marL="28575" anchor="b">
                    <a:lnT cap="flat" cmpd="sng" w="9525">
                      <a:solidFill>
                        <a:srgbClr val="000000"/>
                      </a:solidFill>
                      <a:prstDash val="dash"/>
                      <a:round/>
                      <a:headEnd len="sm" w="sm" type="none"/>
                      <a:tailEnd len="sm" w="sm" type="none"/>
                    </a:lnT>
                    <a:lnB cap="flat" cmpd="sng" w="9525">
                      <a:solidFill>
                        <a:srgbClr val="000000"/>
                      </a:solidFill>
                      <a:prstDash val="dash"/>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rgbClr val="6E6F73"/>
                          </a:solidFill>
                          <a:latin typeface="Trebuchet MS"/>
                          <a:ea typeface="Trebuchet MS"/>
                          <a:cs typeface="Trebuchet MS"/>
                          <a:sym typeface="Trebuchet MS"/>
                        </a:rPr>
                        <a:t>Page classification + boundary rules (20 of 20 pages correct)</a:t>
                      </a:r>
                      <a:endParaRPr sz="1000">
                        <a:solidFill>
                          <a:srgbClr val="6E6F73"/>
                        </a:solidFill>
                        <a:latin typeface="Trebuchet MS"/>
                        <a:ea typeface="Trebuchet MS"/>
                        <a:cs typeface="Trebuchet MS"/>
                        <a:sym typeface="Trebuchet MS"/>
                      </a:endParaRPr>
                    </a:p>
                  </a:txBody>
                  <a:tcPr marT="19050" marB="19050" marR="28575" marL="28575" anchor="b">
                    <a:lnT cap="flat" cmpd="sng" w="9525">
                      <a:solidFill>
                        <a:srgbClr val="000000"/>
                      </a:solidFill>
                      <a:prstDash val="dash"/>
                      <a:round/>
                      <a:headEnd len="sm" w="sm" type="none"/>
                      <a:tailEnd len="sm" w="sm" type="none"/>
                    </a:lnT>
                    <a:lnB cap="flat" cmpd="sng" w="9525">
                      <a:solidFill>
                        <a:srgbClr val="000000"/>
                      </a:solidFill>
                      <a:prstDash val="dash"/>
                      <a:round/>
                      <a:headEnd len="sm" w="sm" type="none"/>
                      <a:tailEnd len="sm" w="sm" type="none"/>
                    </a:lnB>
                  </a:tcPr>
                </a:tc>
              </a:tr>
              <a:tr h="544275">
                <a:tc>
                  <a:txBody>
                    <a:bodyPr/>
                    <a:lstStyle/>
                    <a:p>
                      <a:pPr indent="0" lvl="0" marL="0" rtl="0" algn="l">
                        <a:lnSpc>
                          <a:spcPct val="115000"/>
                        </a:lnSpc>
                        <a:spcBef>
                          <a:spcPts val="0"/>
                        </a:spcBef>
                        <a:spcAft>
                          <a:spcPts val="0"/>
                        </a:spcAft>
                        <a:buNone/>
                      </a:pPr>
                      <a:r>
                        <a:rPr lang="en" sz="1000">
                          <a:solidFill>
                            <a:srgbClr val="6E6F73"/>
                          </a:solidFill>
                          <a:latin typeface="Trebuchet MS"/>
                          <a:ea typeface="Trebuchet MS"/>
                          <a:cs typeface="Trebuchet MS"/>
                          <a:sym typeface="Trebuchet MS"/>
                        </a:rPr>
                        <a:t>Look-alike documents confuse search</a:t>
                      </a:r>
                      <a:endParaRPr sz="1000">
                        <a:solidFill>
                          <a:srgbClr val="6E6F73"/>
                        </a:solidFill>
                        <a:latin typeface="Trebuchet MS"/>
                        <a:ea typeface="Trebuchet MS"/>
                        <a:cs typeface="Trebuchet MS"/>
                        <a:sym typeface="Trebuchet MS"/>
                      </a:endParaRPr>
                    </a:p>
                  </a:txBody>
                  <a:tcPr marT="19050" marB="19050" marR="28575" marL="28575" anchor="b">
                    <a:lnT cap="flat" cmpd="sng" w="9525">
                      <a:solidFill>
                        <a:srgbClr val="000000"/>
                      </a:solidFill>
                      <a:prstDash val="dash"/>
                      <a:round/>
                      <a:headEnd len="sm" w="sm" type="none"/>
                      <a:tailEnd len="sm" w="sm" type="none"/>
                    </a:lnT>
                    <a:lnB cap="flat" cmpd="sng" w="9525">
                      <a:solidFill>
                        <a:srgbClr val="000000"/>
                      </a:solidFill>
                      <a:prstDash val="dash"/>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rgbClr val="6E6F73"/>
                          </a:solidFill>
                          <a:latin typeface="Trebuchet MS"/>
                          <a:ea typeface="Trebuchet MS"/>
                          <a:cs typeface="Trebuchet MS"/>
                          <a:sym typeface="Trebuchet MS"/>
                        </a:rPr>
                        <a:t>Route by document type + exact-ID lookup (hit rate 89% → 100%)</a:t>
                      </a:r>
                      <a:endParaRPr sz="1000">
                        <a:solidFill>
                          <a:srgbClr val="6E6F73"/>
                        </a:solidFill>
                        <a:latin typeface="Trebuchet MS"/>
                        <a:ea typeface="Trebuchet MS"/>
                        <a:cs typeface="Trebuchet MS"/>
                        <a:sym typeface="Trebuchet MS"/>
                      </a:endParaRPr>
                    </a:p>
                  </a:txBody>
                  <a:tcPr marT="19050" marB="19050" marR="28575" marL="28575" anchor="b">
                    <a:lnT cap="flat" cmpd="sng" w="9525">
                      <a:solidFill>
                        <a:srgbClr val="000000"/>
                      </a:solidFill>
                      <a:prstDash val="dash"/>
                      <a:round/>
                      <a:headEnd len="sm" w="sm" type="none"/>
                      <a:tailEnd len="sm" w="sm" type="none"/>
                    </a:lnT>
                    <a:lnB cap="flat" cmpd="sng" w="9525">
                      <a:solidFill>
                        <a:srgbClr val="000000"/>
                      </a:solidFill>
                      <a:prstDash val="dash"/>
                      <a:round/>
                      <a:headEnd len="sm" w="sm" type="none"/>
                      <a:tailEnd len="sm" w="sm" type="none"/>
                    </a:lnB>
                  </a:tcPr>
                </a:tc>
              </a:tr>
              <a:tr h="544275">
                <a:tc>
                  <a:txBody>
                    <a:bodyPr/>
                    <a:lstStyle/>
                    <a:p>
                      <a:pPr indent="0" lvl="0" marL="0" rtl="0" algn="l">
                        <a:lnSpc>
                          <a:spcPct val="115000"/>
                        </a:lnSpc>
                        <a:spcBef>
                          <a:spcPts val="0"/>
                        </a:spcBef>
                        <a:spcAft>
                          <a:spcPts val="0"/>
                        </a:spcAft>
                        <a:buNone/>
                      </a:pPr>
                      <a:r>
                        <a:rPr lang="en" sz="1000">
                          <a:solidFill>
                            <a:srgbClr val="6E6F73"/>
                          </a:solidFill>
                          <a:latin typeface="Trebuchet MS"/>
                          <a:ea typeface="Trebuchet MS"/>
                          <a:cs typeface="Trebuchet MS"/>
                          <a:sym typeface="Trebuchet MS"/>
                        </a:rPr>
                        <a:t>Answers must be verifiable</a:t>
                      </a:r>
                      <a:endParaRPr sz="1000">
                        <a:solidFill>
                          <a:srgbClr val="6E6F73"/>
                        </a:solidFill>
                        <a:latin typeface="Trebuchet MS"/>
                        <a:ea typeface="Trebuchet MS"/>
                        <a:cs typeface="Trebuchet MS"/>
                        <a:sym typeface="Trebuchet MS"/>
                      </a:endParaRPr>
                    </a:p>
                  </a:txBody>
                  <a:tcPr marT="19050" marB="19050" marR="28575" marL="28575" anchor="b">
                    <a:lnT cap="flat" cmpd="sng" w="9525">
                      <a:solidFill>
                        <a:srgbClr val="000000"/>
                      </a:solidFill>
                      <a:prstDash val="dash"/>
                      <a:round/>
                      <a:headEnd len="sm" w="sm" type="none"/>
                      <a:tailEnd len="sm" w="sm" type="none"/>
                    </a:lnT>
                    <a:lnB cap="flat" cmpd="sng" w="9525">
                      <a:solidFill>
                        <a:srgbClr val="000000"/>
                      </a:solidFill>
                      <a:prstDash val="dash"/>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rgbClr val="6E6F73"/>
                          </a:solidFill>
                          <a:latin typeface="Trebuchet MS"/>
                          <a:ea typeface="Trebuchet MS"/>
                          <a:cs typeface="Trebuchet MS"/>
                          <a:sym typeface="Trebuchet MS"/>
                        </a:rPr>
                        <a:t>[n] citations, sources table and a confidence level</a:t>
                      </a:r>
                      <a:endParaRPr sz="1000">
                        <a:solidFill>
                          <a:srgbClr val="6E6F73"/>
                        </a:solidFill>
                        <a:latin typeface="Trebuchet MS"/>
                        <a:ea typeface="Trebuchet MS"/>
                        <a:cs typeface="Trebuchet MS"/>
                        <a:sym typeface="Trebuchet MS"/>
                      </a:endParaRPr>
                    </a:p>
                  </a:txBody>
                  <a:tcPr marT="19050" marB="19050" marR="28575" marL="28575" anchor="b">
                    <a:lnT cap="flat" cmpd="sng" w="9525">
                      <a:solidFill>
                        <a:srgbClr val="000000"/>
                      </a:solidFill>
                      <a:prstDash val="dash"/>
                      <a:round/>
                      <a:headEnd len="sm" w="sm" type="none"/>
                      <a:tailEnd len="sm" w="sm" type="none"/>
                    </a:lnT>
                    <a:lnB cap="flat" cmpd="sng" w="9525">
                      <a:solidFill>
                        <a:srgbClr val="000000"/>
                      </a:solidFill>
                      <a:prstDash val="dash"/>
                      <a:round/>
                      <a:headEnd len="sm" w="sm" type="none"/>
                      <a:tailEnd len="sm" w="sm" type="none"/>
                    </a:lnB>
                  </a:tcPr>
                </a:tc>
              </a:tr>
            </a:tbl>
          </a:graphicData>
        </a:graphic>
      </p:graphicFrame>
      <p:pic>
        <p:nvPicPr>
          <p:cNvPr descr="chart dollar icon vector. Isolated contour symbol illustration (Provided by Getty Images)" id="73" name="Google Shape;73;p14"/>
          <p:cNvPicPr preferRelativeResize="0"/>
          <p:nvPr/>
        </p:nvPicPr>
        <p:blipFill>
          <a:blip r:embed="rId3">
            <a:alphaModFix/>
          </a:blip>
          <a:stretch>
            <a:fillRect/>
          </a:stretch>
        </p:blipFill>
        <p:spPr>
          <a:xfrm>
            <a:off x="577451" y="3149376"/>
            <a:ext cx="605998" cy="605998"/>
          </a:xfrm>
          <a:prstGeom prst="rect">
            <a:avLst/>
          </a:prstGeom>
          <a:noFill/>
          <a:ln>
            <a:noFill/>
          </a:ln>
        </p:spPr>
      </p:pic>
      <p:pic>
        <p:nvPicPr>
          <p:cNvPr descr="Darts icon vector. Isolated contour symbol illustration (Provided by Getty Images)" id="74" name="Google Shape;74;p14"/>
          <p:cNvPicPr preferRelativeResize="0"/>
          <p:nvPr/>
        </p:nvPicPr>
        <p:blipFill>
          <a:blip r:embed="rId4">
            <a:alphaModFix/>
          </a:blip>
          <a:stretch>
            <a:fillRect/>
          </a:stretch>
        </p:blipFill>
        <p:spPr>
          <a:xfrm>
            <a:off x="495000" y="1560926"/>
            <a:ext cx="605998" cy="605998"/>
          </a:xfrm>
          <a:prstGeom prst="rect">
            <a:avLst/>
          </a:prstGeom>
          <a:noFill/>
          <a:ln>
            <a:noFill/>
          </a:ln>
        </p:spPr>
      </p:pic>
      <p:pic>
        <p:nvPicPr>
          <p:cNvPr descr="Credit card and communication error thin line icon, Payment problem concept, payment failure sign on white background, Credit card with 404 error icon in outline style. Vector graphics. (Provided by Getty Images)" id="75" name="Google Shape;75;p14"/>
          <p:cNvPicPr preferRelativeResize="0"/>
          <p:nvPr/>
        </p:nvPicPr>
        <p:blipFill>
          <a:blip r:embed="rId5">
            <a:alphaModFix/>
          </a:blip>
          <a:stretch>
            <a:fillRect/>
          </a:stretch>
        </p:blipFill>
        <p:spPr>
          <a:xfrm>
            <a:off x="4724400" y="1519751"/>
            <a:ext cx="359726" cy="359726"/>
          </a:xfrm>
          <a:prstGeom prst="rect">
            <a:avLst/>
          </a:prstGeom>
          <a:noFill/>
          <a:ln>
            <a:noFill/>
          </a:ln>
        </p:spPr>
      </p:pic>
      <p:pic>
        <p:nvPicPr>
          <p:cNvPr descr="Solution thin line icon. Light bulb in hands vector illustration isolated on white. Innovation outline style design, designed for web and app. Eps 10. (Provided by Getty Images)" id="76" name="Google Shape;76;p14"/>
          <p:cNvPicPr preferRelativeResize="0"/>
          <p:nvPr/>
        </p:nvPicPr>
        <p:blipFill>
          <a:blip r:embed="rId6">
            <a:alphaModFix/>
          </a:blip>
          <a:stretch>
            <a:fillRect/>
          </a:stretch>
        </p:blipFill>
        <p:spPr>
          <a:xfrm>
            <a:off x="6415947" y="1519751"/>
            <a:ext cx="359726" cy="3597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nvSpPr>
        <p:spPr>
          <a:xfrm>
            <a:off x="466050" y="240275"/>
            <a:ext cx="8523900" cy="8589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None/>
            </a:pPr>
            <a:r>
              <a:rPr lang="en" sz="1600">
                <a:solidFill>
                  <a:schemeClr val="dk2"/>
                </a:solidFill>
                <a:latin typeface="Inter"/>
                <a:ea typeface="Inter"/>
                <a:cs typeface="Inter"/>
                <a:sym typeface="Inter"/>
              </a:rPr>
              <a:t>System Architecture | Open-Source, Metadata-Routed RAG Pipeline</a:t>
            </a:r>
            <a:endParaRPr sz="1600">
              <a:solidFill>
                <a:schemeClr val="dk2"/>
              </a:solidFill>
              <a:latin typeface="Inter"/>
              <a:ea typeface="Inter"/>
              <a:cs typeface="Inter"/>
              <a:sym typeface="Inter"/>
            </a:endParaRPr>
          </a:p>
          <a:p>
            <a:pPr indent="0" lvl="0" marL="0" rtl="0" algn="l">
              <a:lnSpc>
                <a:spcPct val="90000"/>
              </a:lnSpc>
              <a:spcBef>
                <a:spcPts val="0"/>
              </a:spcBef>
              <a:spcAft>
                <a:spcPts val="0"/>
              </a:spcAft>
              <a:buNone/>
            </a:pPr>
            <a:r>
              <a:t/>
            </a:r>
            <a:endParaRPr sz="1600">
              <a:solidFill>
                <a:srgbClr val="29BA74"/>
              </a:solidFill>
              <a:latin typeface="Inter"/>
              <a:ea typeface="Inter"/>
              <a:cs typeface="Inter"/>
              <a:sym typeface="Inter"/>
            </a:endParaRPr>
          </a:p>
          <a:p>
            <a:pPr indent="0" lvl="0" marL="0" rtl="0" algn="l">
              <a:lnSpc>
                <a:spcPct val="90000"/>
              </a:lnSpc>
              <a:spcBef>
                <a:spcPts val="0"/>
              </a:spcBef>
              <a:spcAft>
                <a:spcPts val="0"/>
              </a:spcAft>
              <a:buNone/>
            </a:pPr>
            <a:r>
              <a:rPr i="1" lang="en" sz="1000">
                <a:solidFill>
                  <a:srgbClr val="575757"/>
                </a:solidFill>
                <a:latin typeface="Inter"/>
                <a:ea typeface="Inter"/>
                <a:cs typeface="Inter"/>
                <a:sym typeface="Inter"/>
              </a:rPr>
              <a:t/>
            </a:r>
            <a:r>
              <a:rPr i="1" lang="en" sz="1000">
                <a:solidFill>
                  <a:srgbClr val="575757"/>
                </a:solidFill>
                <a:latin typeface="Inter"/>
                <a:ea typeface="Inter"/>
                <a:cs typeface="Inter"/>
                <a:sym typeface="Inter"/>
              </a:rPr>
              <a:t>PDF upload → Text layer? PyMuPDF : deskew + EasyOCR + table-row rebuild → Page classification &amp; document splitting (Mistral, JSON) → Line-aware chunking</a:t>
            </a:r>
            <a:endParaRPr i="1" sz="1000">
              <a:solidFill>
                <a:srgbClr val="575757"/>
              </a:solidFill>
              <a:latin typeface="Inter"/>
              <a:ea typeface="Inter"/>
              <a:cs typeface="Inter"/>
              <a:sym typeface="Inter"/>
            </a:endParaRPr>
          </a:p>
          <a:p>
            <a:pPr indent="0" lvl="0" marL="0" rtl="0" algn="l">
              <a:lnSpc>
                <a:spcPct val="90000"/>
              </a:lnSpc>
              <a:spcBef>
                <a:spcPts val="0"/>
              </a:spcBef>
              <a:spcAft>
                <a:spcPts val="0"/>
              </a:spcAft>
              <a:buNone/>
            </a:pPr>
            <a:r>
              <a:rPr i="1" lang="en" sz="1000">
                <a:solidFill>
                  <a:srgbClr val="575757"/>
                </a:solidFill>
                <a:latin typeface="Inter"/>
                <a:ea typeface="Inter"/>
                <a:cs typeface="Inter"/>
                <a:sym typeface="Inter"/>
              </a:rPr>
              <a:t>→ BGE-small embeddings → LlamaIndex vector store → Route by document type (+ exact-ID fallback) → Top-4 chunks → Mistral-7B answer with [n] citations → Confidence check</a:t>
            </a:r>
            <a:endParaRPr i="1" sz="1000">
              <a:solidFill>
                <a:srgbClr val="575757"/>
              </a:solidFill>
              <a:latin typeface="Inter"/>
              <a:ea typeface="Inter"/>
              <a:cs typeface="Inter"/>
              <a:sym typeface="Inter"/>
            </a:endParaRPr>
          </a:p>
          <a:p>
            <a:pPr indent="0" lvl="0" marL="0" rtl="0" algn="l">
              <a:lnSpc>
                <a:spcPct val="90000"/>
              </a:lnSpc>
              <a:spcBef>
                <a:spcPts val="0"/>
              </a:spcBef>
              <a:spcAft>
                <a:spcPts val="0"/>
              </a:spcAft>
              <a:buNone/>
            </a:pPr>
            <a:r>
              <a:t/>
            </a:r>
            <a:endParaRPr i="1" sz="1000">
              <a:solidFill>
                <a:srgbClr val="575757"/>
              </a:solidFill>
              <a:latin typeface="Inter"/>
              <a:ea typeface="Inter"/>
              <a:cs typeface="Inter"/>
              <a:sym typeface="Inter"/>
            </a:endParaRPr>
          </a:p>
        </p:txBody>
      </p:sp>
      <p:sp>
        <p:nvSpPr>
          <p:cNvPr id="82" name="Google Shape;82;p15"/>
          <p:cNvSpPr txBox="1"/>
          <p:nvPr/>
        </p:nvSpPr>
        <p:spPr>
          <a:xfrm>
            <a:off x="466050" y="4060900"/>
            <a:ext cx="52011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900"/>
              </a:spcBef>
              <a:spcAft>
                <a:spcPts val="900"/>
              </a:spcAft>
              <a:buNone/>
            </a:pPr>
            <a:r>
              <a:t/>
            </a:r>
            <a:endParaRPr i="1" sz="1200">
              <a:latin typeface="Trebuchet MS"/>
              <a:ea typeface="Trebuchet MS"/>
              <a:cs typeface="Trebuchet MS"/>
              <a:sym typeface="Trebuchet MS"/>
            </a:endParaRPr>
          </a:p>
        </p:txBody>
      </p:sp>
      <p:sp>
        <p:nvSpPr>
          <p:cNvPr id="83" name="Google Shape;83;p15"/>
          <p:cNvSpPr txBox="1"/>
          <p:nvPr/>
        </p:nvSpPr>
        <p:spPr>
          <a:xfrm>
            <a:off x="3434750" y="1049825"/>
            <a:ext cx="3000000" cy="384900"/>
          </a:xfrm>
          <a:prstGeom prst="rect">
            <a:avLst/>
          </a:prstGeom>
          <a:noFill/>
          <a:ln>
            <a:noFill/>
          </a:ln>
        </p:spPr>
        <p:txBody>
          <a:bodyPr anchorCtr="0" anchor="ctr" bIns="91425" lIns="91425" spcFirstLastPara="1" rIns="91425" wrap="square" tIns="91425">
            <a:spAutoFit/>
          </a:bodyPr>
          <a:lstStyle/>
          <a:p>
            <a:pPr indent="0" lvl="0" marL="0" rtl="0" algn="l">
              <a:lnSpc>
                <a:spcPct val="115000"/>
              </a:lnSpc>
              <a:spcBef>
                <a:spcPts val="1400"/>
              </a:spcBef>
              <a:spcAft>
                <a:spcPts val="400"/>
              </a:spcAft>
              <a:buNone/>
            </a:pPr>
            <a:r>
              <a:rPr b="1" lang="en" sz="1300">
                <a:solidFill>
                  <a:schemeClr val="dk2"/>
                </a:solidFill>
              </a:rPr>
              <a:t>Component Specifications</a:t>
            </a:r>
            <a:endParaRPr b="1" sz="1300">
              <a:solidFill>
                <a:schemeClr val="dk2"/>
              </a:solidFill>
            </a:endParaRPr>
          </a:p>
        </p:txBody>
      </p:sp>
      <p:graphicFrame>
        <p:nvGraphicFramePr>
          <p:cNvPr id="84" name="Google Shape;84;p15"/>
          <p:cNvGraphicFramePr/>
          <p:nvPr/>
        </p:nvGraphicFramePr>
        <p:xfrm>
          <a:off x="495000" y="1461575"/>
          <a:ext cx="3000000" cy="3000000"/>
        </p:xfrm>
        <a:graphic>
          <a:graphicData uri="http://schemas.openxmlformats.org/drawingml/2006/table">
            <a:tbl>
              <a:tblPr>
                <a:noFill/>
                <a:tableStyleId>{561E6B1B-CC9E-4A57-9FAC-BEAC68AC436B}</a:tableStyleId>
              </a:tblPr>
              <a:tblGrid>
                <a:gridCol w="944925"/>
                <a:gridCol w="3814775"/>
                <a:gridCol w="3587275"/>
              </a:tblGrid>
              <a:tr h="321625">
                <a:tc>
                  <a:txBody>
                    <a:bodyPr/>
                    <a:lstStyle/>
                    <a:p>
                      <a:pPr indent="0" lvl="0" marL="0" rtl="0" algn="ctr">
                        <a:lnSpc>
                          <a:spcPct val="115000"/>
                        </a:lnSpc>
                        <a:spcBef>
                          <a:spcPts val="0"/>
                        </a:spcBef>
                        <a:spcAft>
                          <a:spcPts val="0"/>
                        </a:spcAft>
                        <a:buNone/>
                      </a:pPr>
                      <a:r>
                        <a:rPr b="1" lang="en" sz="800">
                          <a:solidFill>
                            <a:srgbClr val="E71C57"/>
                          </a:solidFill>
                          <a:latin typeface="Inter"/>
                          <a:ea typeface="Inter"/>
                          <a:cs typeface="Inter"/>
                          <a:sym typeface="Inter"/>
                        </a:rPr>
                        <a:t>Component</a:t>
                      </a:r>
                      <a:endParaRPr b="1" sz="1000">
                        <a:solidFill>
                          <a:srgbClr val="E71C57"/>
                        </a:solidFill>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E71C57"/>
                          </a:solidFill>
                          <a:latin typeface="Inter"/>
                          <a:ea typeface="Inter"/>
                          <a:cs typeface="Inter"/>
                          <a:sym typeface="Inter"/>
                        </a:rPr>
                        <a:t>Technology Choice</a:t>
                      </a:r>
                      <a:endParaRPr b="1" sz="1000">
                        <a:solidFill>
                          <a:srgbClr val="E71C57"/>
                        </a:solidFill>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E71C57"/>
                          </a:solidFill>
                          <a:latin typeface="Inter"/>
                          <a:ea typeface="Inter"/>
                          <a:cs typeface="Inter"/>
                          <a:sym typeface="Inter"/>
                        </a:rPr>
                        <a:t>Configuration Details</a:t>
                      </a:r>
                      <a:endParaRPr b="1" sz="1000">
                        <a:solidFill>
                          <a:srgbClr val="E71C57"/>
                        </a:solidFill>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r>
              <a:tr h="304325">
                <a:tc>
                  <a:txBody>
                    <a:bodyPr/>
                    <a:lstStyle/>
                    <a:p>
                      <a:pPr indent="0" lvl="0" marL="0" rtl="0" algn="l">
                        <a:spcBef>
                          <a:spcPts val="0"/>
                        </a:spcBef>
                        <a:spcAft>
                          <a:spcPts val="0"/>
                        </a:spcAft>
                        <a:buNone/>
                      </a:pPr>
                      <a:r>
                        <a:rPr b="1" lang="en" sz="800">
                          <a:solidFill>
                            <a:srgbClr val="E71C57"/>
                          </a:solidFill>
                          <a:latin typeface="Inter"/>
                          <a:ea typeface="Inter"/>
                          <a:cs typeface="Inter"/>
                          <a:sym typeface="Inter"/>
                        </a:rPr>
                        <a:t>OCR Engine</a:t>
                      </a:r>
                      <a:endParaRPr b="1" sz="1000">
                        <a:solidFill>
                          <a:srgbClr val="E71C57"/>
                        </a:solidFill>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c>
                  <a:txBody>
                    <a:bodyPr/>
                    <a:lstStyle/>
                    <a:p>
                      <a:pPr indent="0" lvl="0" marL="0" rtl="0" algn="l">
                        <a:spcBef>
                          <a:spcPts val="0"/>
                        </a:spcBef>
                        <a:spcAft>
                          <a:spcPts val="0"/>
                        </a:spcAft>
                        <a:buNone/>
                      </a:pPr>
                      <a:r>
                        <a:rPr lang="en" sz="800">
                          <a:latin typeface="Inter"/>
                          <a:ea typeface="Inter"/>
                          <a:cs typeface="Inter"/>
                          <a:sym typeface="Inter"/>
                        </a:rPr>
                        <a:t>EasyOCR 1.7 (English) + PyMuPDF</a:t>
                      </a:r>
                      <a:endParaRPr sz="1000">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c>
                  <a:txBody>
                    <a:bodyPr/>
                    <a:lstStyle/>
                    <a:p>
                      <a:pPr indent="0" lvl="0" marL="0" rtl="0" algn="l">
                        <a:spcBef>
                          <a:spcPts val="0"/>
                        </a:spcBef>
                        <a:spcAft>
                          <a:spcPts val="0"/>
                        </a:spcAft>
                        <a:buNone/>
                      </a:pPr>
                      <a:r>
                        <a:rPr lang="en" sz="800">
                          <a:latin typeface="Inter"/>
                          <a:ea typeface="Inter"/>
                          <a:cs typeface="Inter"/>
                          <a:sym typeface="Inter"/>
                        </a:rPr>
                        <a:t>Scanned pages only (&lt; 50 chars of text); 200 dpi; deskew; table rows rebuilt; O→0, l→1 fixed in IDs</a:t>
                      </a:r>
                      <a:endParaRPr sz="1000">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r>
              <a:tr h="442675">
                <a:tc>
                  <a:txBody>
                    <a:bodyPr/>
                    <a:lstStyle/>
                    <a:p>
                      <a:pPr indent="0" lvl="0" marL="0" rtl="0" algn="l">
                        <a:spcBef>
                          <a:spcPts val="0"/>
                        </a:spcBef>
                        <a:spcAft>
                          <a:spcPts val="0"/>
                        </a:spcAft>
                        <a:buNone/>
                      </a:pPr>
                      <a:r>
                        <a:rPr b="1" lang="en" sz="800">
                          <a:solidFill>
                            <a:srgbClr val="E71C57"/>
                          </a:solidFill>
                          <a:latin typeface="Inter"/>
                          <a:ea typeface="Inter"/>
                          <a:cs typeface="Inter"/>
                          <a:sym typeface="Inter"/>
                        </a:rPr>
                        <a:t>Text Chunking</a:t>
                      </a:r>
                      <a:endParaRPr b="1" sz="1000">
                        <a:solidFill>
                          <a:srgbClr val="E71C57"/>
                        </a:solidFill>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c>
                  <a:txBody>
                    <a:bodyPr/>
                    <a:lstStyle/>
                    <a:p>
                      <a:pPr indent="0" lvl="0" marL="0" rtl="0" algn="l">
                        <a:spcBef>
                          <a:spcPts val="0"/>
                        </a:spcBef>
                        <a:spcAft>
                          <a:spcPts val="0"/>
                        </a:spcAft>
                        <a:buNone/>
                      </a:pPr>
                      <a:r>
                        <a:rPr lang="en" sz="800">
                          <a:latin typeface="Inter"/>
                          <a:ea typeface="Inter"/>
                          <a:cs typeface="Inter"/>
                          <a:sym typeface="Inter"/>
                        </a:rPr>
                        <a:t>Sentence splitter at line breaks</a:t>
                      </a:r>
                      <a:endParaRPr sz="1000">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c>
                  <a:txBody>
                    <a:bodyPr/>
                    <a:lstStyle/>
                    <a:p>
                      <a:pPr indent="0" lvl="0" marL="0" rtl="0" algn="l">
                        <a:spcBef>
                          <a:spcPts val="0"/>
                        </a:spcBef>
                        <a:spcAft>
                          <a:spcPts val="0"/>
                        </a:spcAft>
                        <a:buNone/>
                      </a:pPr>
                      <a:r>
                        <a:rPr lang="en" sz="800">
                          <a:latin typeface="Inter"/>
                          <a:ea typeface="Inter"/>
                          <a:cs typeface="Inter"/>
                          <a:sym typeface="Inter"/>
                        </a:rPr>
                        <a:t>256 tokens, 30 overlap; one Document per page; table rows never cut</a:t>
                      </a:r>
                      <a:endParaRPr sz="1000">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r>
              <a:tr h="304325">
                <a:tc>
                  <a:txBody>
                    <a:bodyPr/>
                    <a:lstStyle/>
                    <a:p>
                      <a:pPr indent="0" lvl="0" marL="0" rtl="0" algn="l">
                        <a:spcBef>
                          <a:spcPts val="0"/>
                        </a:spcBef>
                        <a:spcAft>
                          <a:spcPts val="0"/>
                        </a:spcAft>
                        <a:buNone/>
                      </a:pPr>
                      <a:r>
                        <a:rPr b="1" lang="en" sz="800">
                          <a:solidFill>
                            <a:srgbClr val="E71C57"/>
                          </a:solidFill>
                          <a:latin typeface="Inter"/>
                          <a:ea typeface="Inter"/>
                          <a:cs typeface="Inter"/>
                          <a:sym typeface="Inter"/>
                        </a:rPr>
                        <a:t>Embeddings</a:t>
                      </a:r>
                      <a:endParaRPr b="1" sz="1000">
                        <a:solidFill>
                          <a:srgbClr val="E71C57"/>
                        </a:solidFill>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c>
                  <a:txBody>
                    <a:bodyPr/>
                    <a:lstStyle/>
                    <a:p>
                      <a:pPr indent="0" lvl="0" marL="0" rtl="0" algn="l">
                        <a:spcBef>
                          <a:spcPts val="0"/>
                        </a:spcBef>
                        <a:spcAft>
                          <a:spcPts val="0"/>
                        </a:spcAft>
                        <a:buNone/>
                      </a:pPr>
                      <a:r>
                        <a:rPr lang="en" sz="800">
                          <a:latin typeface="Inter"/>
                          <a:ea typeface="Inter"/>
                          <a:cs typeface="Inter"/>
                          <a:sym typeface="Inter"/>
                        </a:rPr>
                        <a:t>BAAI/bge-small-en-v1.5</a:t>
                      </a:r>
                      <a:endParaRPr sz="1000">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c>
                  <a:txBody>
                    <a:bodyPr/>
                    <a:lstStyle/>
                    <a:p>
                      <a:pPr indent="0" lvl="0" marL="0" rtl="0" algn="l">
                        <a:spcBef>
                          <a:spcPts val="0"/>
                        </a:spcBef>
                        <a:spcAft>
                          <a:spcPts val="0"/>
                        </a:spcAft>
                        <a:buNone/>
                      </a:pPr>
                      <a:r>
                        <a:rPr lang="en" sz="800">
                          <a:latin typeface="Inter"/>
                          <a:ea typeface="Inter"/>
                          <a:cs typeface="Inter"/>
                          <a:sym typeface="Inter"/>
                        </a:rPr>
                        <a:t>384 dimensions, 33M parameters; query prefix; doc type embedded with the text</a:t>
                      </a:r>
                      <a:endParaRPr sz="1000">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r>
              <a:tr h="442675">
                <a:tc>
                  <a:txBody>
                    <a:bodyPr/>
                    <a:lstStyle/>
                    <a:p>
                      <a:pPr indent="0" lvl="0" marL="0" rtl="0" algn="l">
                        <a:spcBef>
                          <a:spcPts val="0"/>
                        </a:spcBef>
                        <a:spcAft>
                          <a:spcPts val="0"/>
                        </a:spcAft>
                        <a:buNone/>
                      </a:pPr>
                      <a:r>
                        <a:rPr b="1" lang="en" sz="800">
                          <a:solidFill>
                            <a:srgbClr val="E71C57"/>
                          </a:solidFill>
                          <a:latin typeface="Inter"/>
                          <a:ea typeface="Inter"/>
                          <a:cs typeface="Inter"/>
                          <a:sym typeface="Inter"/>
                        </a:rPr>
                        <a:t>Vector Database</a:t>
                      </a:r>
                      <a:endParaRPr b="1" sz="1000">
                        <a:solidFill>
                          <a:srgbClr val="E71C57"/>
                        </a:solidFill>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c>
                  <a:txBody>
                    <a:bodyPr/>
                    <a:lstStyle/>
                    <a:p>
                      <a:pPr indent="0" lvl="0" marL="0" rtl="0" algn="l">
                        <a:spcBef>
                          <a:spcPts val="0"/>
                        </a:spcBef>
                        <a:spcAft>
                          <a:spcPts val="0"/>
                        </a:spcAft>
                        <a:buNone/>
                      </a:pPr>
                      <a:r>
                        <a:rPr lang="en" sz="800">
                          <a:latin typeface="Inter"/>
                          <a:ea typeface="Inter"/>
                          <a:cs typeface="Inter"/>
                          <a:sym typeface="Inter"/>
                        </a:rPr>
                        <a:t>LlamaIndex in-memory index</a:t>
                      </a:r>
                      <a:endParaRPr sz="1000">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c>
                  <a:txBody>
                    <a:bodyPr/>
                    <a:lstStyle/>
                    <a:p>
                      <a:pPr indent="0" lvl="0" marL="0" rtl="0" algn="l">
                        <a:spcBef>
                          <a:spcPts val="0"/>
                        </a:spcBef>
                        <a:spcAft>
                          <a:spcPts val="0"/>
                        </a:spcAft>
                        <a:buNone/>
                      </a:pPr>
                      <a:r>
                        <a:rPr lang="en" sz="800">
                          <a:latin typeface="Inter"/>
                          <a:ea typeface="Inter"/>
                          <a:cs typeface="Inter"/>
                          <a:sym typeface="Inter"/>
                        </a:rPr>
                        <a:t>Cosine similarity, exact search, metadata filters on doc_type</a:t>
                      </a:r>
                      <a:endParaRPr sz="1000">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r>
              <a:tr h="304325">
                <a:tc>
                  <a:txBody>
                    <a:bodyPr/>
                    <a:lstStyle/>
                    <a:p>
                      <a:pPr indent="0" lvl="0" marL="0" rtl="0" algn="l">
                        <a:spcBef>
                          <a:spcPts val="0"/>
                        </a:spcBef>
                        <a:spcAft>
                          <a:spcPts val="0"/>
                        </a:spcAft>
                        <a:buNone/>
                      </a:pPr>
                      <a:r>
                        <a:rPr b="1" lang="en" sz="800">
                          <a:solidFill>
                            <a:srgbClr val="E71C57"/>
                          </a:solidFill>
                          <a:latin typeface="Inter"/>
                          <a:ea typeface="Inter"/>
                          <a:cs typeface="Inter"/>
                          <a:sym typeface="Inter"/>
                        </a:rPr>
                        <a:t>Retriever</a:t>
                      </a:r>
                      <a:endParaRPr b="1" sz="1000">
                        <a:solidFill>
                          <a:srgbClr val="E71C57"/>
                        </a:solidFill>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c>
                  <a:txBody>
                    <a:bodyPr/>
                    <a:lstStyle/>
                    <a:p>
                      <a:pPr indent="0" lvl="0" marL="0" rtl="0" algn="l">
                        <a:spcBef>
                          <a:spcPts val="0"/>
                        </a:spcBef>
                        <a:spcAft>
                          <a:spcPts val="0"/>
                        </a:spcAft>
                        <a:buNone/>
                      </a:pPr>
                      <a:r>
                        <a:rPr lang="en" sz="800">
                          <a:latin typeface="Inter"/>
                          <a:ea typeface="Inter"/>
                          <a:cs typeface="Inter"/>
                          <a:sym typeface="Inter"/>
                        </a:rPr>
                        <a:t>Dense + metadata routing</a:t>
                      </a:r>
                      <a:endParaRPr sz="1000">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c>
                  <a:txBody>
                    <a:bodyPr/>
                    <a:lstStyle/>
                    <a:p>
                      <a:pPr indent="0" lvl="0" marL="0" rtl="0" algn="l">
                        <a:spcBef>
                          <a:spcPts val="0"/>
                        </a:spcBef>
                        <a:spcAft>
                          <a:spcPts val="0"/>
                        </a:spcAft>
                        <a:buNone/>
                      </a:pPr>
                      <a:r>
                        <a:rPr lang="en" sz="800">
                          <a:latin typeface="Inter"/>
                          <a:ea typeface="Inter"/>
                          <a:cs typeface="Inter"/>
                          <a:sym typeface="Inter"/>
                        </a:rPr>
                        <a:t>Top-K = 4; LLM picks the doc type → filtered search; exact-ID and weak-match fallbacks</a:t>
                      </a:r>
                      <a:endParaRPr sz="1000">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r>
              <a:tr h="442675">
                <a:tc>
                  <a:txBody>
                    <a:bodyPr/>
                    <a:lstStyle/>
                    <a:p>
                      <a:pPr indent="0" lvl="0" marL="0" rtl="0" algn="l">
                        <a:spcBef>
                          <a:spcPts val="0"/>
                        </a:spcBef>
                        <a:spcAft>
                          <a:spcPts val="0"/>
                        </a:spcAft>
                        <a:buNone/>
                      </a:pPr>
                      <a:r>
                        <a:rPr b="1" lang="en" sz="800">
                          <a:solidFill>
                            <a:srgbClr val="E71C57"/>
                          </a:solidFill>
                          <a:latin typeface="Inter"/>
                          <a:ea typeface="Inter"/>
                          <a:cs typeface="Inter"/>
                          <a:sym typeface="Inter"/>
                        </a:rPr>
                        <a:t>LLM</a:t>
                      </a:r>
                      <a:endParaRPr b="1" sz="1000">
                        <a:solidFill>
                          <a:srgbClr val="E71C57"/>
                        </a:solidFill>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c>
                  <a:txBody>
                    <a:bodyPr/>
                    <a:lstStyle/>
                    <a:p>
                      <a:pPr indent="0" lvl="0" marL="0" rtl="0" algn="l">
                        <a:spcBef>
                          <a:spcPts val="0"/>
                        </a:spcBef>
                        <a:spcAft>
                          <a:spcPts val="0"/>
                        </a:spcAft>
                        <a:buNone/>
                      </a:pPr>
                      <a:r>
                        <a:rPr lang="en" sz="800">
                          <a:latin typeface="Inter"/>
                          <a:ea typeface="Inter"/>
                          <a:cs typeface="Inter"/>
                          <a:sym typeface="Inter"/>
                        </a:rPr>
                        <a:t>Mistral-7B-Instruct v0.2, 4-bit (llama.cpp)</a:t>
                      </a:r>
                      <a:endParaRPr sz="1000">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c>
                  <a:txBody>
                    <a:bodyPr/>
                    <a:lstStyle/>
                    <a:p>
                      <a:pPr indent="0" lvl="0" marL="0" rtl="0" algn="l">
                        <a:spcBef>
                          <a:spcPts val="0"/>
                        </a:spcBef>
                        <a:spcAft>
                          <a:spcPts val="0"/>
                        </a:spcAft>
                        <a:buNone/>
                      </a:pPr>
                      <a:r>
                        <a:rPr lang="en" sz="800">
                          <a:latin typeface="Inter"/>
                          <a:ea typeface="Inter"/>
                          <a:cs typeface="Inter"/>
                          <a:sym typeface="Inter"/>
                        </a:rPr>
                        <a:t>4,096 context, temperature 0, max 350 tokens, stop sequences</a:t>
                      </a:r>
                      <a:endParaRPr sz="1000">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r>
              <a:tr h="442675">
                <a:tc>
                  <a:txBody>
                    <a:bodyPr/>
                    <a:lstStyle/>
                    <a:p>
                      <a:pPr indent="0" lvl="0" marL="0" rtl="0" algn="l">
                        <a:spcBef>
                          <a:spcPts val="0"/>
                        </a:spcBef>
                        <a:spcAft>
                          <a:spcPts val="0"/>
                        </a:spcAft>
                        <a:buNone/>
                      </a:pPr>
                      <a:r>
                        <a:rPr b="1" lang="en" sz="800">
                          <a:solidFill>
                            <a:srgbClr val="E71C57"/>
                          </a:solidFill>
                          <a:latin typeface="Inter"/>
                          <a:ea typeface="Inter"/>
                          <a:cs typeface="Inter"/>
                          <a:sym typeface="Inter"/>
                        </a:rPr>
                        <a:t>Prompt Strategy</a:t>
                      </a:r>
                      <a:endParaRPr b="1" sz="1000">
                        <a:solidFill>
                          <a:srgbClr val="E71C57"/>
                        </a:solidFill>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c>
                  <a:txBody>
                    <a:bodyPr/>
                    <a:lstStyle/>
                    <a:p>
                      <a:pPr indent="0" lvl="0" marL="0" rtl="0" algn="l">
                        <a:spcBef>
                          <a:spcPts val="0"/>
                        </a:spcBef>
                        <a:spcAft>
                          <a:spcPts val="0"/>
                        </a:spcAft>
                        <a:buNone/>
                      </a:pPr>
                      <a:r>
                        <a:rPr lang="en" sz="800">
                          <a:latin typeface="Inter"/>
                          <a:ea typeface="Inter"/>
                          <a:cs typeface="Inter"/>
                          <a:sym typeface="Inter"/>
                        </a:rPr>
                        <a:t>Grounded prompt, numbered sources</a:t>
                      </a:r>
                      <a:endParaRPr sz="1000">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c>
                  <a:txBody>
                    <a:bodyPr/>
                    <a:lstStyle/>
                    <a:p>
                      <a:pPr indent="0" lvl="0" marL="0" rtl="0" algn="l">
                        <a:spcBef>
                          <a:spcPts val="0"/>
                        </a:spcBef>
                        <a:spcAft>
                          <a:spcPts val="0"/>
                        </a:spcAft>
                        <a:buNone/>
                      </a:pPr>
                      <a:r>
                        <a:rPr lang="en" sz="800">
                          <a:latin typeface="Inter"/>
                          <a:ea typeface="Inter"/>
                          <a:cs typeface="Inter"/>
                          <a:sym typeface="Inter"/>
                        </a:rPr>
                        <a:t>Cite [n] per fact, copy values exactly, read tables by row, fixed "could not find" reply</a:t>
                      </a:r>
                      <a:endParaRPr sz="1000">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6"/>
          <p:cNvSpPr txBox="1"/>
          <p:nvPr/>
        </p:nvSpPr>
        <p:spPr>
          <a:xfrm>
            <a:off x="401450" y="242075"/>
            <a:ext cx="8537400" cy="529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400"/>
              </a:spcAft>
              <a:buClr>
                <a:schemeClr val="dk1"/>
              </a:buClr>
              <a:buSzPts val="1100"/>
              <a:buFont typeface="Arial"/>
              <a:buNone/>
            </a:pPr>
            <a:r>
              <a:rPr lang="en" sz="1600">
                <a:solidFill>
                  <a:schemeClr val="dk1"/>
                </a:solidFill>
                <a:latin typeface="Inter"/>
                <a:ea typeface="Inter"/>
                <a:cs typeface="Inter"/>
                <a:sym typeface="Inter"/>
              </a:rPr>
              <a:t>Pipeline Performance Metrics | 10 Test Questions with Known Answers, Laptop CPU</a:t>
            </a:r>
            <a:endParaRPr i="1" sz="1000">
              <a:solidFill>
                <a:srgbClr val="575757"/>
              </a:solidFill>
              <a:latin typeface="Inter"/>
              <a:ea typeface="Inter"/>
              <a:cs typeface="Inter"/>
              <a:sym typeface="Inter"/>
            </a:endParaRPr>
          </a:p>
        </p:txBody>
      </p:sp>
      <p:sp>
        <p:nvSpPr>
          <p:cNvPr id="90" name="Google Shape;90;p16"/>
          <p:cNvSpPr txBox="1"/>
          <p:nvPr/>
        </p:nvSpPr>
        <p:spPr>
          <a:xfrm>
            <a:off x="347250" y="849450"/>
            <a:ext cx="8449500" cy="42360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None/>
            </a:pPr>
            <a:r>
              <a:rPr lang="en" sz="1000">
                <a:solidFill>
                  <a:srgbClr val="575757"/>
                </a:solidFill>
                <a:latin typeface="Inter"/>
                <a:ea typeface="Inter"/>
                <a:cs typeface="Inter"/>
                <a:sym typeface="Inter"/>
              </a:rPr>
              <a:t>🧪 </a:t>
            </a:r>
            <a:r>
              <a:rPr b="1" lang="en" sz="1000">
                <a:solidFill>
                  <a:schemeClr val="dk2"/>
                </a:solidFill>
                <a:latin typeface="Inter"/>
                <a:ea typeface="Inter"/>
                <a:cs typeface="Inter"/>
                <a:sym typeface="Inter"/>
              </a:rPr>
              <a:t>Retrieval Performance</a:t>
            </a:r>
            <a:endParaRPr b="1" sz="1000">
              <a:solidFill>
                <a:schemeClr val="dk2"/>
              </a:solidFill>
              <a:latin typeface="Inter"/>
              <a:ea typeface="Inter"/>
              <a:cs typeface="Inter"/>
              <a:sym typeface="Inter"/>
            </a:endParaRPr>
          </a:p>
          <a:p>
            <a:pPr indent="0" lvl="0" marL="0" rtl="0" algn="l">
              <a:lnSpc>
                <a:spcPct val="100000"/>
              </a:lnSpc>
              <a:spcBef>
                <a:spcPts val="1200"/>
              </a:spcBef>
              <a:spcAft>
                <a:spcPts val="0"/>
              </a:spcAft>
              <a:buClr>
                <a:schemeClr val="dk1"/>
              </a:buClr>
              <a:buSzPts val="1100"/>
              <a:buFont typeface="Arial"/>
              <a:buNone/>
            </a:pPr>
            <a:r>
              <a:rPr i="1" lang="en" sz="1000">
                <a:solidFill>
                  <a:schemeClr val="dk2"/>
                </a:solidFill>
                <a:latin typeface="Inter"/>
                <a:ea typeface="Inter"/>
                <a:cs typeface="Inter"/>
                <a:sym typeface="Inter"/>
              </a:rPr>
              <a:t>Test set: 9 questions with known answer pages + 1 out-of-scope question, over a digital Cytiva bundle and a scanned West bundle (20 pages). K = 4; a chunk is relevant if it comes from an answer page.</a:t>
            </a:r>
            <a:endParaRPr i="1" sz="1000">
              <a:solidFill>
                <a:schemeClr val="dk2"/>
              </a:solidFill>
              <a:latin typeface="Inter"/>
              <a:ea typeface="Inter"/>
              <a:cs typeface="Inter"/>
              <a:sym typeface="Inter"/>
            </a:endParaRPr>
          </a:p>
          <a:p>
            <a:pPr indent="-292100" lvl="0" marL="457200" rtl="0" algn="l">
              <a:lnSpc>
                <a:spcPct val="100000"/>
              </a:lnSpc>
              <a:spcBef>
                <a:spcPts val="1200"/>
              </a:spcBef>
              <a:spcAft>
                <a:spcPts val="0"/>
              </a:spcAft>
              <a:buClr>
                <a:schemeClr val="dk2"/>
              </a:buClr>
              <a:buSzPts val="1000"/>
              <a:buChar char="●"/>
            </a:pPr>
            <a:r>
              <a:rPr b="1" lang="en" sz="1000">
                <a:solidFill>
                  <a:schemeClr val="dk2"/>
                </a:solidFill>
                <a:latin typeface="Inter"/>
                <a:ea typeface="Inter"/>
                <a:cs typeface="Inter"/>
                <a:sym typeface="Inter"/>
              </a:rPr>
              <a:t>Recall@K:</a:t>
            </a:r>
            <a:r>
              <a:rPr lang="en" sz="1000">
                <a:solidFill>
                  <a:schemeClr val="dk2"/>
                </a:solidFill>
                <a:latin typeface="Inter"/>
                <a:ea typeface="Inter"/>
                <a:cs typeface="Inter"/>
                <a:sym typeface="Inter"/>
              </a:rPr>
              <a:t> 94.4% at K = 4 with routing (83.3% when searching all documents)</a:t>
            </a:r>
            <a:endParaRPr sz="1000">
              <a:solidFill>
                <a:schemeClr val="dk2"/>
              </a:solidFill>
              <a:latin typeface="Inter"/>
              <a:ea typeface="Inter"/>
              <a:cs typeface="Inter"/>
              <a:sym typeface="Inter"/>
            </a:endParaRPr>
          </a:p>
          <a:p>
            <a:pPr indent="-292100" lvl="0" marL="457200" rtl="0" algn="l">
              <a:lnSpc>
                <a:spcPct val="100000"/>
              </a:lnSpc>
              <a:spcBef>
                <a:spcPts val="0"/>
              </a:spcBef>
              <a:spcAft>
                <a:spcPts val="0"/>
              </a:spcAft>
              <a:buClr>
                <a:schemeClr val="dk2"/>
              </a:buClr>
              <a:buSzPts val="1000"/>
              <a:buChar char="●"/>
            </a:pPr>
            <a:r>
              <a:rPr b="1" lang="en" sz="1000">
                <a:solidFill>
                  <a:schemeClr val="dk2"/>
                </a:solidFill>
                <a:latin typeface="Inter"/>
                <a:ea typeface="Inter"/>
                <a:cs typeface="Inter"/>
                <a:sym typeface="Inter"/>
              </a:rPr>
              <a:t>Mean Reciprocal Rank (MRR):</a:t>
            </a:r>
            <a:r>
              <a:rPr lang="en" sz="1000">
                <a:solidFill>
                  <a:schemeClr val="dk2"/>
                </a:solidFill>
                <a:latin typeface="Inter"/>
                <a:ea typeface="Inter"/>
                <a:cs typeface="Inter"/>
                <a:sym typeface="Inter"/>
              </a:rPr>
              <a:t> 0.89 with routing (0.72 without)</a:t>
            </a:r>
            <a:endParaRPr sz="1000">
              <a:solidFill>
                <a:schemeClr val="dk2"/>
              </a:solidFill>
              <a:latin typeface="Inter"/>
              <a:ea typeface="Inter"/>
              <a:cs typeface="Inter"/>
              <a:sym typeface="Inter"/>
            </a:endParaRPr>
          </a:p>
          <a:p>
            <a:pPr indent="-292100" lvl="0" marL="457200" rtl="0" algn="l">
              <a:lnSpc>
                <a:spcPct val="100000"/>
              </a:lnSpc>
              <a:spcBef>
                <a:spcPts val="0"/>
              </a:spcBef>
              <a:spcAft>
                <a:spcPts val="0"/>
              </a:spcAft>
              <a:buClr>
                <a:schemeClr val="dk2"/>
              </a:buClr>
              <a:buSzPts val="1000"/>
              <a:buChar char="●"/>
            </a:pPr>
            <a:r>
              <a:rPr b="1" lang="en" sz="1000">
                <a:solidFill>
                  <a:schemeClr val="dk2"/>
                </a:solidFill>
                <a:latin typeface="Inter"/>
                <a:ea typeface="Inter"/>
                <a:cs typeface="Inter"/>
                <a:sym typeface="Inter"/>
              </a:rPr>
              <a:t>Precision@K:</a:t>
            </a:r>
            <a:r>
              <a:rPr lang="en" sz="1000">
                <a:solidFill>
                  <a:schemeClr val="dk2"/>
                </a:solidFill>
                <a:latin typeface="Inter"/>
                <a:ea typeface="Inter"/>
                <a:cs typeface="Inter"/>
                <a:sym typeface="Inter"/>
              </a:rPr>
              <a:t> 50.0% with routing (41.7% without)</a:t>
            </a:r>
            <a:endParaRPr sz="1000">
              <a:solidFill>
                <a:schemeClr val="dk2"/>
              </a:solidFill>
              <a:latin typeface="Inter"/>
              <a:ea typeface="Inter"/>
              <a:cs typeface="Inter"/>
              <a:sym typeface="Inter"/>
            </a:endParaRPr>
          </a:p>
          <a:p>
            <a:pPr indent="-292100" lvl="0" marL="457200" rtl="0" algn="l">
              <a:lnSpc>
                <a:spcPct val="100000"/>
              </a:lnSpc>
              <a:spcBef>
                <a:spcPts val="0"/>
              </a:spcBef>
              <a:spcAft>
                <a:spcPts val="0"/>
              </a:spcAft>
              <a:buClr>
                <a:schemeClr val="dk2"/>
              </a:buClr>
              <a:buSzPts val="1000"/>
              <a:buChar char="●"/>
            </a:pPr>
            <a:r>
              <a:rPr b="1" lang="en" sz="1000">
                <a:solidFill>
                  <a:schemeClr val="dk2"/>
                </a:solidFill>
                <a:latin typeface="Inter"/>
                <a:ea typeface="Inter"/>
                <a:cs typeface="Inter"/>
                <a:sym typeface="Inter"/>
              </a:rPr>
              <a:t>Hit Rate:</a:t>
            </a:r>
            <a:r>
              <a:rPr lang="en" sz="1000">
                <a:solidFill>
                  <a:schemeClr val="dk2"/>
                </a:solidFill>
                <a:latin typeface="Inter"/>
                <a:ea typeface="Inter"/>
                <a:cs typeface="Inter"/>
                <a:sym typeface="Inter"/>
              </a:rPr>
              <a:t> 100% with routing (88.9% without) </a:t>
            </a:r>
            <a:r>
              <a:rPr i="1" lang="en" sz="1000">
                <a:solidFill>
                  <a:schemeClr val="dk2"/>
                </a:solidFill>
                <a:latin typeface="Inter"/>
                <a:ea typeface="Inter"/>
                <a:cs typeface="Inter"/>
                <a:sym typeface="Inter"/>
              </a:rPr>
              <a:t>(percentage of queries with at least 1 relevant result)</a:t>
            </a:r>
            <a:endParaRPr sz="1000">
              <a:solidFill>
                <a:srgbClr val="575757"/>
              </a:solidFill>
              <a:latin typeface="Trebuchet MS"/>
              <a:ea typeface="Trebuchet MS"/>
              <a:cs typeface="Trebuchet MS"/>
              <a:sym typeface="Trebuchet MS"/>
            </a:endParaRPr>
          </a:p>
          <a:p>
            <a:pPr indent="0" lvl="0" marL="0" marR="0" rtl="0" algn="l">
              <a:lnSpc>
                <a:spcPct val="100000"/>
              </a:lnSpc>
              <a:spcBef>
                <a:spcPts val="1200"/>
              </a:spcBef>
              <a:spcAft>
                <a:spcPts val="0"/>
              </a:spcAft>
              <a:buNone/>
            </a:pPr>
            <a:r>
              <a:rPr lang="en" sz="1000">
                <a:solidFill>
                  <a:srgbClr val="575757"/>
                </a:solidFill>
                <a:latin typeface="Trebuchet MS"/>
                <a:ea typeface="Trebuchet MS"/>
                <a:cs typeface="Trebuchet MS"/>
                <a:sym typeface="Trebuchet MS"/>
              </a:rPr>
              <a:t>💊 </a:t>
            </a:r>
            <a:r>
              <a:rPr b="1" lang="en" sz="1000">
                <a:solidFill>
                  <a:schemeClr val="dk2"/>
                </a:solidFill>
                <a:latin typeface="Inter"/>
                <a:ea typeface="Inter"/>
                <a:cs typeface="Inter"/>
                <a:sym typeface="Inter"/>
              </a:rPr>
              <a:t>End-to-End Accuracy</a:t>
            </a:r>
            <a:endParaRPr b="1" sz="1000">
              <a:solidFill>
                <a:schemeClr val="dk2"/>
              </a:solidFill>
              <a:latin typeface="Inter"/>
              <a:ea typeface="Inter"/>
              <a:cs typeface="Inter"/>
              <a:sym typeface="Inter"/>
            </a:endParaRPr>
          </a:p>
          <a:p>
            <a:pPr indent="0" lvl="0" marL="0" rtl="0" algn="l">
              <a:lnSpc>
                <a:spcPct val="100000"/>
              </a:lnSpc>
              <a:spcBef>
                <a:spcPts val="1200"/>
              </a:spcBef>
              <a:spcAft>
                <a:spcPts val="0"/>
              </a:spcAft>
              <a:buClr>
                <a:schemeClr val="dk1"/>
              </a:buClr>
              <a:buSzPts val="1100"/>
              <a:buFont typeface="Arial"/>
              <a:buNone/>
            </a:pPr>
            <a:r>
              <a:rPr i="1" lang="en" sz="1000">
                <a:solidFill>
                  <a:schemeClr val="dk2"/>
                </a:solidFill>
                <a:latin typeface="Inter"/>
                <a:ea typeface="Inter"/>
                <a:cs typeface="Inter"/>
                <a:sym typeface="Inter"/>
              </a:rPr>
              <a:t>Strict grading: every key value must appear in the answer; also checked by reading every answer.</a:t>
            </a:r>
            <a:endParaRPr i="1" sz="1000">
              <a:solidFill>
                <a:schemeClr val="dk2"/>
              </a:solidFill>
              <a:latin typeface="Inter"/>
              <a:ea typeface="Inter"/>
              <a:cs typeface="Inter"/>
              <a:sym typeface="Inter"/>
            </a:endParaRPr>
          </a:p>
          <a:p>
            <a:pPr indent="-292100" lvl="0" marL="457200" rtl="0" algn="l">
              <a:lnSpc>
                <a:spcPct val="100000"/>
              </a:lnSpc>
              <a:spcBef>
                <a:spcPts val="1200"/>
              </a:spcBef>
              <a:spcAft>
                <a:spcPts val="0"/>
              </a:spcAft>
              <a:buClr>
                <a:schemeClr val="dk2"/>
              </a:buClr>
              <a:buSzPts val="1000"/>
              <a:buChar char="●"/>
            </a:pPr>
            <a:r>
              <a:rPr b="1" lang="en" sz="1000">
                <a:solidFill>
                  <a:schemeClr val="dk2"/>
                </a:solidFill>
                <a:latin typeface="Inter"/>
                <a:ea typeface="Inter"/>
                <a:cs typeface="Inter"/>
                <a:sym typeface="Inter"/>
              </a:rPr>
              <a:t>Answer Accuracy:</a:t>
            </a:r>
            <a:r>
              <a:rPr lang="en" sz="1000">
                <a:solidFill>
                  <a:schemeClr val="dk2"/>
                </a:solidFill>
                <a:latin typeface="Inter"/>
                <a:ea typeface="Inter"/>
                <a:cs typeface="Inter"/>
                <a:sym typeface="Inter"/>
              </a:rPr>
              <a:t> 70% (evaluated on 10 test questions; all 3 misses came from the right page, read wrongly)</a:t>
            </a:r>
            <a:endParaRPr sz="1000">
              <a:solidFill>
                <a:schemeClr val="dk2"/>
              </a:solidFill>
              <a:latin typeface="Inter"/>
              <a:ea typeface="Inter"/>
              <a:cs typeface="Inter"/>
              <a:sym typeface="Inter"/>
            </a:endParaRPr>
          </a:p>
          <a:p>
            <a:pPr indent="-292100" lvl="0" marL="457200" rtl="0" algn="l">
              <a:lnSpc>
                <a:spcPct val="100000"/>
              </a:lnSpc>
              <a:spcBef>
                <a:spcPts val="0"/>
              </a:spcBef>
              <a:spcAft>
                <a:spcPts val="0"/>
              </a:spcAft>
              <a:buClr>
                <a:schemeClr val="dk2"/>
              </a:buClr>
              <a:buSzPts val="1000"/>
              <a:buChar char="●"/>
            </a:pPr>
            <a:r>
              <a:rPr b="1" lang="en" sz="1000">
                <a:solidFill>
                  <a:schemeClr val="dk2"/>
                </a:solidFill>
                <a:latin typeface="Inter"/>
                <a:ea typeface="Inter"/>
                <a:cs typeface="Inter"/>
                <a:sym typeface="Inter"/>
              </a:rPr>
              <a:t>Citation Accuracy:</a:t>
            </a:r>
            <a:r>
              <a:rPr lang="en" sz="1000">
                <a:solidFill>
                  <a:schemeClr val="dk2"/>
                </a:solidFill>
                <a:latin typeface="Inter"/>
                <a:ea typeface="Inter"/>
                <a:cs typeface="Inter"/>
                <a:sym typeface="Inter"/>
              </a:rPr>
              <a:t> 88.9% </a:t>
            </a:r>
            <a:r>
              <a:rPr i="1" lang="en" sz="1000">
                <a:solidFill>
                  <a:schemeClr val="dk2"/>
                </a:solidFill>
                <a:latin typeface="Inter"/>
                <a:ea typeface="Inter"/>
                <a:cs typeface="Inter"/>
                <a:sym typeface="Inter"/>
              </a:rPr>
              <a:t>(8 of 9 answers cited the page that holds the answer)</a:t>
            </a:r>
            <a:endParaRPr i="1" sz="1000">
              <a:solidFill>
                <a:schemeClr val="dk2"/>
              </a:solidFill>
              <a:latin typeface="Inter"/>
              <a:ea typeface="Inter"/>
              <a:cs typeface="Inter"/>
              <a:sym typeface="Inter"/>
            </a:endParaRPr>
          </a:p>
          <a:p>
            <a:pPr indent="-292100" lvl="0" marL="457200" rtl="0" algn="l">
              <a:lnSpc>
                <a:spcPct val="100000"/>
              </a:lnSpc>
              <a:spcBef>
                <a:spcPts val="0"/>
              </a:spcBef>
              <a:spcAft>
                <a:spcPts val="0"/>
              </a:spcAft>
              <a:buClr>
                <a:schemeClr val="dk2"/>
              </a:buClr>
              <a:buSzPts val="1000"/>
              <a:buChar char="●"/>
            </a:pPr>
            <a:r>
              <a:rPr b="1" lang="en" sz="1000">
                <a:solidFill>
                  <a:schemeClr val="dk2"/>
                </a:solidFill>
                <a:latin typeface="Inter"/>
                <a:ea typeface="Inter"/>
                <a:cs typeface="Inter"/>
                <a:sym typeface="Inter"/>
              </a:rPr>
              <a:t>Factual Consistency:</a:t>
            </a:r>
            <a:r>
              <a:rPr lang="en" sz="1000">
                <a:solidFill>
                  <a:schemeClr val="dk2"/>
                </a:solidFill>
                <a:latin typeface="Inter"/>
                <a:ea typeface="Inter"/>
                <a:cs typeface="Inter"/>
                <a:sym typeface="Inter"/>
              </a:rPr>
              <a:t> 100% </a:t>
            </a:r>
            <a:r>
              <a:rPr i="1" lang="en" sz="1000">
                <a:solidFill>
                  <a:schemeClr val="dk2"/>
                </a:solidFill>
                <a:latin typeface="Inter"/>
                <a:ea typeface="Inter"/>
                <a:cs typeface="Inter"/>
                <a:sym typeface="Inter"/>
              </a:rPr>
              <a:t>(every number in every answer appears in its sources; automatic check)</a:t>
            </a:r>
            <a:endParaRPr sz="1000">
              <a:solidFill>
                <a:srgbClr val="575757"/>
              </a:solidFill>
              <a:latin typeface="Trebuchet MS"/>
              <a:ea typeface="Trebuchet MS"/>
              <a:cs typeface="Trebuchet MS"/>
              <a:sym typeface="Trebuchet MS"/>
            </a:endParaRPr>
          </a:p>
          <a:p>
            <a:pPr indent="0" lvl="0" marL="0" marR="0" rtl="0" algn="l">
              <a:lnSpc>
                <a:spcPct val="100000"/>
              </a:lnSpc>
              <a:spcBef>
                <a:spcPts val="1200"/>
              </a:spcBef>
              <a:spcAft>
                <a:spcPts val="0"/>
              </a:spcAft>
              <a:buNone/>
            </a:pPr>
            <a:r>
              <a:rPr lang="en" sz="1000">
                <a:solidFill>
                  <a:srgbClr val="575757"/>
                </a:solidFill>
                <a:latin typeface="Trebuchet MS"/>
                <a:ea typeface="Trebuchet MS"/>
                <a:cs typeface="Trebuchet MS"/>
                <a:sym typeface="Trebuchet MS"/>
              </a:rPr>
              <a:t>🧑‍🎓 </a:t>
            </a:r>
            <a:r>
              <a:rPr b="1" lang="en" sz="1000">
                <a:solidFill>
                  <a:schemeClr val="dk2"/>
                </a:solidFill>
                <a:latin typeface="Inter"/>
                <a:ea typeface="Inter"/>
                <a:cs typeface="Inter"/>
                <a:sym typeface="Inter"/>
              </a:rPr>
              <a:t>System Performance</a:t>
            </a:r>
            <a:endParaRPr b="1" sz="1000">
              <a:solidFill>
                <a:schemeClr val="dk2"/>
              </a:solidFill>
              <a:latin typeface="Inter"/>
              <a:ea typeface="Inter"/>
              <a:cs typeface="Inter"/>
              <a:sym typeface="Inter"/>
            </a:endParaRPr>
          </a:p>
          <a:p>
            <a:pPr indent="0" lvl="0" marL="0" rtl="0" algn="l">
              <a:lnSpc>
                <a:spcPct val="100000"/>
              </a:lnSpc>
              <a:spcBef>
                <a:spcPts val="1200"/>
              </a:spcBef>
              <a:spcAft>
                <a:spcPts val="0"/>
              </a:spcAft>
              <a:buClr>
                <a:schemeClr val="dk1"/>
              </a:buClr>
              <a:buSzPts val="1100"/>
              <a:buFont typeface="Arial"/>
              <a:buNone/>
            </a:pPr>
            <a:r>
              <a:rPr i="1" lang="en" sz="1000">
                <a:solidFill>
                  <a:schemeClr val="dk2"/>
                </a:solidFill>
                <a:latin typeface="Inter"/>
                <a:ea typeface="Inter"/>
                <a:cs typeface="Inter"/>
                <a:sym typeface="Inter"/>
              </a:rPr>
              <a:t>Measured on a laptop CPU (no GPU); a Colab T4 GPU is much faster.</a:t>
            </a:r>
            <a:endParaRPr i="1" sz="1000">
              <a:solidFill>
                <a:schemeClr val="dk2"/>
              </a:solidFill>
              <a:latin typeface="Inter"/>
              <a:ea typeface="Inter"/>
              <a:cs typeface="Inter"/>
              <a:sym typeface="Inter"/>
            </a:endParaRPr>
          </a:p>
          <a:p>
            <a:pPr indent="-292100" lvl="0" marL="457200" rtl="0" algn="l">
              <a:lnSpc>
                <a:spcPct val="100000"/>
              </a:lnSpc>
              <a:spcBef>
                <a:spcPts val="1200"/>
              </a:spcBef>
              <a:spcAft>
                <a:spcPts val="0"/>
              </a:spcAft>
              <a:buClr>
                <a:schemeClr val="dk2"/>
              </a:buClr>
              <a:buSzPts val="1000"/>
              <a:buChar char="●"/>
            </a:pPr>
            <a:r>
              <a:rPr b="1" lang="en" sz="1000">
                <a:solidFill>
                  <a:schemeClr val="dk2"/>
                </a:solidFill>
                <a:latin typeface="Inter"/>
                <a:ea typeface="Inter"/>
                <a:cs typeface="Inter"/>
                <a:sym typeface="Inter"/>
              </a:rPr>
              <a:t>Average Response Time:</a:t>
            </a:r>
            <a:r>
              <a:rPr lang="en" sz="1000">
                <a:solidFill>
                  <a:schemeClr val="dk2"/>
                </a:solidFill>
                <a:latin typeface="Inter"/>
                <a:ea typeface="Inter"/>
                <a:cs typeface="Inter"/>
                <a:sym typeface="Inter"/>
              </a:rPr>
              <a:t> 32.9 seconds per question</a:t>
            </a:r>
            <a:endParaRPr sz="1000">
              <a:solidFill>
                <a:schemeClr val="dk2"/>
              </a:solidFill>
              <a:latin typeface="Inter"/>
              <a:ea typeface="Inter"/>
              <a:cs typeface="Inter"/>
              <a:sym typeface="Inter"/>
            </a:endParaRPr>
          </a:p>
          <a:p>
            <a:pPr indent="-292100" lvl="0" marL="457200" rtl="0" algn="l">
              <a:lnSpc>
                <a:spcPct val="100000"/>
              </a:lnSpc>
              <a:spcBef>
                <a:spcPts val="0"/>
              </a:spcBef>
              <a:spcAft>
                <a:spcPts val="0"/>
              </a:spcAft>
              <a:buClr>
                <a:schemeClr val="dk2"/>
              </a:buClr>
              <a:buSzPts val="1000"/>
              <a:buChar char="●"/>
            </a:pPr>
            <a:r>
              <a:rPr b="1" lang="en" sz="1000">
                <a:solidFill>
                  <a:schemeClr val="dk2"/>
                </a:solidFill>
                <a:latin typeface="Inter"/>
                <a:ea typeface="Inter"/>
                <a:cs typeface="Inter"/>
                <a:sym typeface="Inter"/>
              </a:rPr>
              <a:t>OCR Processing:</a:t>
            </a:r>
            <a:r>
              <a:rPr lang="en" sz="1000">
                <a:solidFill>
                  <a:schemeClr val="dk2"/>
                </a:solidFill>
                <a:latin typeface="Inter"/>
                <a:ea typeface="Inter"/>
                <a:cs typeface="Inter"/>
                <a:sym typeface="Inter"/>
              </a:rPr>
              <a:t> 13.5s per scanned page (page classification: 18.8s per page)</a:t>
            </a:r>
            <a:endParaRPr sz="1000">
              <a:solidFill>
                <a:schemeClr val="dk2"/>
              </a:solidFill>
              <a:latin typeface="Inter"/>
              <a:ea typeface="Inter"/>
              <a:cs typeface="Inter"/>
              <a:sym typeface="Inter"/>
            </a:endParaRPr>
          </a:p>
          <a:p>
            <a:pPr indent="-292100" lvl="0" marL="457200" rtl="0" algn="l">
              <a:lnSpc>
                <a:spcPct val="100000"/>
              </a:lnSpc>
              <a:spcBef>
                <a:spcPts val="0"/>
              </a:spcBef>
              <a:spcAft>
                <a:spcPts val="0"/>
              </a:spcAft>
              <a:buClr>
                <a:schemeClr val="dk2"/>
              </a:buClr>
              <a:buSzPts val="1000"/>
              <a:buChar char="●"/>
            </a:pPr>
            <a:r>
              <a:rPr b="1" lang="en" sz="1000">
                <a:solidFill>
                  <a:schemeClr val="dk2"/>
                </a:solidFill>
                <a:latin typeface="Inter"/>
                <a:ea typeface="Inter"/>
                <a:cs typeface="Inter"/>
                <a:sym typeface="Inter"/>
              </a:rPr>
              <a:t>Retrieval Latency:</a:t>
            </a:r>
            <a:r>
              <a:rPr lang="en" sz="1000">
                <a:solidFill>
                  <a:schemeClr val="dk2"/>
                </a:solidFill>
                <a:latin typeface="Inter"/>
                <a:ea typeface="Inter"/>
                <a:cs typeface="Inter"/>
                <a:sym typeface="Inter"/>
              </a:rPr>
              <a:t> 23ms vector search; 3.4s including the LLM routing call</a:t>
            </a:r>
            <a:endParaRPr sz="1000">
              <a:solidFill>
                <a:schemeClr val="dk2"/>
              </a:solidFill>
              <a:latin typeface="Inter"/>
              <a:ea typeface="Inter"/>
              <a:cs typeface="Inter"/>
              <a:sym typeface="Inter"/>
            </a:endParaRPr>
          </a:p>
          <a:p>
            <a:pPr indent="-292100" lvl="0" marL="457200" rtl="0" algn="l">
              <a:lnSpc>
                <a:spcPct val="100000"/>
              </a:lnSpc>
              <a:spcBef>
                <a:spcPts val="0"/>
              </a:spcBef>
              <a:spcAft>
                <a:spcPts val="0"/>
              </a:spcAft>
              <a:buClr>
                <a:schemeClr val="dk2"/>
              </a:buClr>
              <a:buSzPts val="1000"/>
              <a:buChar char="●"/>
            </a:pPr>
            <a:r>
              <a:rPr b="1" lang="en" sz="1000">
                <a:solidFill>
                  <a:schemeClr val="dk2"/>
                </a:solidFill>
                <a:latin typeface="Inter"/>
                <a:ea typeface="Inter"/>
                <a:cs typeface="Inter"/>
                <a:sym typeface="Inter"/>
              </a:rPr>
              <a:t>LLM Generation:</a:t>
            </a:r>
            <a:r>
              <a:rPr lang="en" sz="1000">
                <a:solidFill>
                  <a:schemeClr val="dk2"/>
                </a:solidFill>
                <a:latin typeface="Inter"/>
                <a:ea typeface="Inter"/>
                <a:cs typeface="Inter"/>
                <a:sym typeface="Inter"/>
              </a:rPr>
              <a:t> 32.0s average</a:t>
            </a:r>
            <a:endParaRPr sz="1000">
              <a:solidFill>
                <a:srgbClr val="575757"/>
              </a:solidFill>
              <a:latin typeface="Trebuchet MS"/>
              <a:ea typeface="Trebuchet MS"/>
              <a:cs typeface="Trebuchet MS"/>
              <a:sym typeface="Trebuchet M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6" name="Google Shape;96;p17"/>
          <p:cNvSpPr txBox="1"/>
          <p:nvPr/>
        </p:nvSpPr>
        <p:spPr>
          <a:xfrm>
            <a:off x="295750" y="173525"/>
            <a:ext cx="8200200" cy="2463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400"/>
              </a:spcAft>
              <a:buClr>
                <a:schemeClr val="dk1"/>
              </a:buClr>
              <a:buSzPts val="1100"/>
              <a:buFont typeface="Arial"/>
              <a:buNone/>
            </a:pPr>
            <a:r>
              <a:rPr lang="en" sz="1600">
                <a:solidFill>
                  <a:schemeClr val="dk2"/>
                </a:solidFill>
                <a:latin typeface="Inter"/>
                <a:ea typeface="Inter"/>
                <a:cs typeface="Inter"/>
                <a:sym typeface="Inter"/>
              </a:rPr>
              <a:t>Pipeline in Action | Exact Lookup Across Two Look-Alike Certificates</a:t>
            </a:r>
            <a:endParaRPr i="1" sz="1600">
              <a:solidFill>
                <a:srgbClr val="575757"/>
              </a:solidFill>
              <a:latin typeface="Inter"/>
              <a:ea typeface="Inter"/>
              <a:cs typeface="Inter"/>
              <a:sym typeface="Inter"/>
            </a:endParaRPr>
          </a:p>
        </p:txBody>
      </p:sp>
      <p:sp>
        <p:nvSpPr>
          <p:cNvPr id="97" name="Google Shape;97;p17"/>
          <p:cNvSpPr txBox="1"/>
          <p:nvPr/>
        </p:nvSpPr>
        <p:spPr>
          <a:xfrm>
            <a:off x="295750" y="723525"/>
            <a:ext cx="5073600" cy="2524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000">
                <a:solidFill>
                  <a:schemeClr val="dk2"/>
                </a:solidFill>
                <a:latin typeface="Inter"/>
                <a:ea typeface="Inter"/>
                <a:cs typeface="Inter"/>
                <a:sym typeface="Inter"/>
              </a:rPr>
              <a:t>Example Query 1: Factual Lookup by Lot Number</a:t>
            </a:r>
            <a:endParaRPr b="1" sz="1000">
              <a:solidFill>
                <a:schemeClr val="dk2"/>
              </a:solidFill>
              <a:latin typeface="Inter"/>
              <a:ea typeface="Inter"/>
              <a:cs typeface="Inter"/>
              <a:sym typeface="Inter"/>
            </a:endParaRPr>
          </a:p>
          <a:p>
            <a:pPr indent="0" lvl="0" marL="0" rtl="0" algn="l">
              <a:lnSpc>
                <a:spcPct val="115000"/>
              </a:lnSpc>
              <a:spcBef>
                <a:spcPts val="1200"/>
              </a:spcBef>
              <a:spcAft>
                <a:spcPts val="0"/>
              </a:spcAft>
              <a:buNone/>
            </a:pPr>
            <a:r>
              <a:rPr b="1" lang="en" sz="1000">
                <a:solidFill>
                  <a:schemeClr val="dk2"/>
                </a:solidFill>
                <a:latin typeface="Inter"/>
                <a:ea typeface="Inter"/>
                <a:cs typeface="Inter"/>
                <a:sym typeface="Inter"/>
              </a:rPr>
              <a:t>Query:</a:t>
            </a:r>
            <a:r>
              <a:rPr lang="en" sz="1000">
                <a:solidFill>
                  <a:schemeClr val="dk2"/>
                </a:solidFill>
                <a:latin typeface="Inter"/>
                <a:ea typeface="Inter"/>
                <a:cs typeface="Inter"/>
                <a:sym typeface="Inter"/>
              </a:rPr>
              <a:t> "What is the expiration date of lot 15102934?"</a:t>
            </a:r>
            <a:endParaRPr sz="1000">
              <a:solidFill>
                <a:schemeClr val="dk2"/>
              </a:solidFill>
              <a:latin typeface="Inter"/>
              <a:ea typeface="Inter"/>
              <a:cs typeface="Inter"/>
              <a:sym typeface="Inter"/>
            </a:endParaRPr>
          </a:p>
          <a:p>
            <a:pPr indent="0" lvl="0" marL="0" rtl="0" algn="l">
              <a:lnSpc>
                <a:spcPct val="115000"/>
              </a:lnSpc>
              <a:spcBef>
                <a:spcPts val="1200"/>
              </a:spcBef>
              <a:spcAft>
                <a:spcPts val="0"/>
              </a:spcAft>
              <a:buNone/>
            </a:pPr>
            <a:r>
              <a:rPr b="1" lang="en" sz="1000">
                <a:solidFill>
                  <a:schemeClr val="dk2"/>
                </a:solidFill>
                <a:latin typeface="Inter"/>
                <a:ea typeface="Inter"/>
                <a:cs typeface="Inter"/>
                <a:sym typeface="Inter"/>
              </a:rPr>
              <a:t>Retrieved Chunks:</a:t>
            </a:r>
            <a:endParaRPr b="1" sz="1000">
              <a:solidFill>
                <a:schemeClr val="dk2"/>
              </a:solidFill>
              <a:latin typeface="Inter"/>
              <a:ea typeface="Inter"/>
              <a:cs typeface="Inter"/>
              <a:sym typeface="Inter"/>
            </a:endParaRPr>
          </a:p>
          <a:p>
            <a:pPr indent="-292100" lvl="0" marL="457200" rtl="0" algn="l">
              <a:lnSpc>
                <a:spcPct val="115000"/>
              </a:lnSpc>
              <a:spcBef>
                <a:spcPts val="1200"/>
              </a:spcBef>
              <a:spcAft>
                <a:spcPts val="0"/>
              </a:spcAft>
              <a:buClr>
                <a:schemeClr val="dk2"/>
              </a:buClr>
              <a:buSzPts val="1000"/>
              <a:buFont typeface="Inter"/>
              <a:buAutoNum type="arabicPeriod"/>
            </a:pPr>
            <a:r>
              <a:rPr i="1" lang="en" sz="1000">
                <a:solidFill>
                  <a:schemeClr val="dk2"/>
                </a:solidFill>
                <a:latin typeface="Inter"/>
                <a:ea typeface="Inter"/>
                <a:cs typeface="Inter"/>
                <a:sym typeface="Inter"/>
              </a:rPr>
              <a:t>"…Product: AKTA ready High Flow Kit · Lot Number: 15102934 · Expiration Date: 20210712…" (Cytiva certificate, p.3, found by exact ID)</a:t>
            </a:r>
            <a:r>
              <a:rPr lang="en" sz="1000">
                <a:solidFill>
                  <a:schemeClr val="dk2"/>
                </a:solidFill>
                <a:latin typeface="Inter"/>
                <a:ea typeface="Inter"/>
                <a:cs typeface="Inter"/>
                <a:sym typeface="Inter"/>
              </a:rPr>
              <a:t> (Similarity: 0.54)</a:t>
            </a:r>
            <a:endParaRPr sz="1000">
              <a:solidFill>
                <a:schemeClr val="dk2"/>
              </a:solidFill>
              <a:latin typeface="Inter"/>
              <a:ea typeface="Inter"/>
              <a:cs typeface="Inter"/>
              <a:sym typeface="Inter"/>
            </a:endParaRPr>
          </a:p>
          <a:p>
            <a:pPr indent="-292100" lvl="0" marL="457200" rtl="0" algn="l">
              <a:lnSpc>
                <a:spcPct val="115000"/>
              </a:lnSpc>
              <a:spcBef>
                <a:spcPts val="0"/>
              </a:spcBef>
              <a:spcAft>
                <a:spcPts val="0"/>
              </a:spcAft>
              <a:buClr>
                <a:schemeClr val="dk2"/>
              </a:buClr>
              <a:buSzPts val="1000"/>
              <a:buFont typeface="Inter"/>
              <a:buAutoNum type="arabicPeriod"/>
            </a:pPr>
            <a:r>
              <a:rPr i="1" lang="en" sz="1000">
                <a:solidFill>
                  <a:schemeClr val="dk2"/>
                </a:solidFill>
                <a:latin typeface="Inter"/>
                <a:ea typeface="Inter"/>
                <a:cs typeface="Inter"/>
                <a:sym typeface="Inter"/>
              </a:rPr>
              <a:t>"QUALITY CERTIFICATE No. 80372784-000010 (continued) · Batch No. | Mfg Date | Exp Date…" (West, scanned p.3)</a:t>
            </a:r>
            <a:r>
              <a:rPr lang="en" sz="1000">
                <a:solidFill>
                  <a:schemeClr val="dk2"/>
                </a:solidFill>
                <a:latin typeface="Inter"/>
                <a:ea typeface="Inter"/>
                <a:cs typeface="Inter"/>
                <a:sym typeface="Inter"/>
              </a:rPr>
              <a:t> (Similarity: 0.62)</a:t>
            </a:r>
            <a:endParaRPr sz="1000">
              <a:solidFill>
                <a:schemeClr val="dk2"/>
              </a:solidFill>
              <a:latin typeface="Inter"/>
              <a:ea typeface="Inter"/>
              <a:cs typeface="Inter"/>
              <a:sym typeface="Inter"/>
            </a:endParaRPr>
          </a:p>
          <a:p>
            <a:pPr indent="-292100" lvl="0" marL="457200" rtl="0" algn="l">
              <a:lnSpc>
                <a:spcPct val="115000"/>
              </a:lnSpc>
              <a:spcBef>
                <a:spcPts val="0"/>
              </a:spcBef>
              <a:spcAft>
                <a:spcPts val="0"/>
              </a:spcAft>
              <a:buClr>
                <a:schemeClr val="dk2"/>
              </a:buClr>
              <a:buSzPts val="1000"/>
              <a:buFont typeface="Inter"/>
              <a:buAutoNum type="arabicPeriod"/>
            </a:pPr>
            <a:r>
              <a:rPr i="1" lang="en" sz="1000">
                <a:solidFill>
                  <a:schemeClr val="dk2"/>
                </a:solidFill>
                <a:latin typeface="Inter"/>
                <a:ea typeface="Inter"/>
                <a:cs typeface="Inter"/>
                <a:sym typeface="Inter"/>
              </a:rPr>
              <a:t>"D000291871 | 500 | 2024-10-22 | 2029-10-21 | 2024-11-11 | Lionville, PA…" (West, scanned p.3)</a:t>
            </a:r>
            <a:r>
              <a:rPr lang="en" sz="1000">
                <a:solidFill>
                  <a:schemeClr val="dk2"/>
                </a:solidFill>
                <a:latin typeface="Inter"/>
                <a:ea typeface="Inter"/>
                <a:cs typeface="Inter"/>
                <a:sym typeface="Inter"/>
              </a:rPr>
              <a:t> (Similarity: 0.58)</a:t>
            </a:r>
            <a:endParaRPr sz="1000">
              <a:solidFill>
                <a:schemeClr val="dk2"/>
              </a:solidFill>
              <a:latin typeface="Inter"/>
              <a:ea typeface="Inter"/>
              <a:cs typeface="Inter"/>
              <a:sym typeface="Inter"/>
            </a:endParaRPr>
          </a:p>
          <a:p>
            <a:pPr indent="0" lvl="0" marL="0" rtl="0" algn="l">
              <a:lnSpc>
                <a:spcPct val="115000"/>
              </a:lnSpc>
              <a:spcBef>
                <a:spcPts val="1200"/>
              </a:spcBef>
              <a:spcAft>
                <a:spcPts val="0"/>
              </a:spcAft>
              <a:buNone/>
            </a:pPr>
            <a:r>
              <a:rPr b="1" lang="en" sz="1000">
                <a:solidFill>
                  <a:schemeClr val="dk2"/>
                </a:solidFill>
                <a:latin typeface="Inter"/>
                <a:ea typeface="Inter"/>
                <a:cs typeface="Inter"/>
                <a:sym typeface="Inter"/>
              </a:rPr>
              <a:t>Final Answer:</a:t>
            </a:r>
            <a:r>
              <a:rPr lang="en" sz="1000">
                <a:solidFill>
                  <a:schemeClr val="dk2"/>
                </a:solidFill>
                <a:latin typeface="Inter"/>
                <a:ea typeface="Inter"/>
                <a:cs typeface="Inter"/>
                <a:sym typeface="Inter"/>
              </a:rPr>
              <a:t> "The expiration date of lot 15102934 is 20210712. [1]" Correct, rated Medium: routing chose Certificate of Quality, but the top hits were the look-alike West certificate, so the exact-ID lookup put the Cytiva page first.</a:t>
            </a:r>
            <a:endParaRPr sz="1000">
              <a:solidFill>
                <a:schemeClr val="dk2"/>
              </a:solidFill>
              <a:latin typeface="Inter"/>
              <a:ea typeface="Inter"/>
              <a:cs typeface="Inter"/>
              <a:sym typeface="Inter"/>
            </a:endParaRPr>
          </a:p>
          <a:p>
            <a:pPr indent="0" lvl="0" marL="0" rtl="0" algn="l">
              <a:lnSpc>
                <a:spcPct val="115000"/>
              </a:lnSpc>
              <a:spcBef>
                <a:spcPts val="1200"/>
              </a:spcBef>
              <a:spcAft>
                <a:spcPts val="1200"/>
              </a:spcAft>
              <a:buNone/>
            </a:pPr>
            <a:r>
              <a:rPr i="1" lang="en" sz="1000">
                <a:solidFill>
                  <a:schemeClr val="dk1"/>
                </a:solidFill>
              </a:rPr>
              <a:t>UI: the cited answer, confidence, routing note and sources table →</a:t>
            </a:r>
            <a:endParaRPr i="1" sz="1000">
              <a:solidFill>
                <a:schemeClr val="dk1"/>
              </a:solidFill>
            </a:endParaRPr>
          </a:p>
        </p:txBody>
      </p:sp>
      <p:pic>
        <p:nvPicPr>
          <p:cNvPr id="98" name="UI screenshot" descr="image.png"/>
          <p:cNvPicPr>
            <a:picLocks noChangeAspect="1"/>
          </p:cNvPicPr>
          <p:nvPr/>
        </p:nvPicPr>
        <p:blipFill>
          <a:blip r:embed="rId3"/>
          <a:stretch>
            <a:fillRect/>
          </a:stretch>
        </p:blipFill>
        <p:spPr>
          <a:xfrm>
            <a:off x="5563479" y="723525"/>
            <a:ext cx="3542441" cy="406199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4" name="Google Shape;104;p18"/>
          <p:cNvSpPr txBox="1"/>
          <p:nvPr/>
        </p:nvSpPr>
        <p:spPr>
          <a:xfrm>
            <a:off x="387625" y="304800"/>
            <a:ext cx="8200200" cy="490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None/>
            </a:pPr>
            <a:r>
              <a:rPr lang="en" sz="1700">
                <a:solidFill>
                  <a:schemeClr val="dk2"/>
                </a:solidFill>
                <a:latin typeface="Inter"/>
                <a:ea typeface="Inter"/>
                <a:cs typeface="Inter"/>
                <a:sym typeface="Inter"/>
              </a:rPr>
              <a:t>Pipeline in Action | When the Model Misreads a Table</a:t>
            </a:r>
            <a:endParaRPr sz="1600">
              <a:solidFill>
                <a:srgbClr val="E71B56"/>
              </a:solidFill>
              <a:latin typeface="Inter"/>
              <a:ea typeface="Inter"/>
              <a:cs typeface="Inter"/>
              <a:sym typeface="Inter"/>
            </a:endParaRPr>
          </a:p>
          <a:p>
            <a:pPr indent="0" lvl="0" marL="0" rtl="0" algn="l">
              <a:lnSpc>
                <a:spcPct val="90000"/>
              </a:lnSpc>
              <a:spcBef>
                <a:spcPts val="400"/>
              </a:spcBef>
              <a:spcAft>
                <a:spcPts val="0"/>
              </a:spcAft>
              <a:buNone/>
            </a:pPr>
            <a:r>
              <a:t/>
            </a:r>
            <a:endParaRPr i="1" sz="1000">
              <a:solidFill>
                <a:srgbClr val="575757"/>
              </a:solidFill>
              <a:latin typeface="Inter"/>
              <a:ea typeface="Inter"/>
              <a:cs typeface="Inter"/>
              <a:sym typeface="Inter"/>
            </a:endParaRPr>
          </a:p>
        </p:txBody>
      </p:sp>
      <p:sp>
        <p:nvSpPr>
          <p:cNvPr id="105" name="Google Shape;105;p18"/>
          <p:cNvSpPr txBox="1"/>
          <p:nvPr/>
        </p:nvSpPr>
        <p:spPr>
          <a:xfrm>
            <a:off x="295750" y="1001200"/>
            <a:ext cx="4676100" cy="240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2"/>
                </a:solidFill>
                <a:latin typeface="Inter"/>
                <a:ea typeface="Inter"/>
                <a:cs typeface="Inter"/>
                <a:sym typeface="Inter"/>
              </a:rPr>
              <a:t>Example Query 2: Table Lookup in a Scanned Certificate</a:t>
            </a:r>
            <a:endParaRPr b="1" sz="1300">
              <a:solidFill>
                <a:schemeClr val="dk2"/>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2"/>
                </a:solidFill>
                <a:latin typeface="Inter"/>
                <a:ea typeface="Inter"/>
                <a:cs typeface="Inter"/>
                <a:sym typeface="Inter"/>
              </a:rPr>
              <a:t>Query:</a:t>
            </a:r>
            <a:r>
              <a:rPr lang="en" sz="1100">
                <a:solidFill>
                  <a:schemeClr val="dk2"/>
                </a:solidFill>
                <a:latin typeface="Inter"/>
                <a:ea typeface="Inter"/>
                <a:cs typeface="Inter"/>
                <a:sym typeface="Inter"/>
              </a:rPr>
              <a:t> "What gamma dose range did batch D000291847 receive?"</a:t>
            </a:r>
            <a:endParaRPr sz="1100">
              <a:solidFill>
                <a:schemeClr val="dk2"/>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2"/>
                </a:solidFill>
                <a:latin typeface="Inter"/>
                <a:ea typeface="Inter"/>
                <a:cs typeface="Inter"/>
                <a:sym typeface="Inter"/>
              </a:rPr>
              <a:t>Retrieved Context:</a:t>
            </a:r>
            <a:r>
              <a:rPr lang="en" sz="1100">
                <a:solidFill>
                  <a:schemeClr val="dk2"/>
                </a:solidFill>
                <a:latin typeface="Inter"/>
                <a:ea typeface="Inter"/>
                <a:cs typeface="Inter"/>
                <a:sym typeface="Inter"/>
              </a:rPr>
              <a:t> 4 chunks, all from the scanned STERIS certificate (p.10). The top chunk (similarity 0.74) holds both the line "Validated Dose Range 25.0–50.0 kGy" and the batch row "D000291847 | … | 27.3 | 38.1 | PASS". </a:t>
            </a:r>
            <a:r>
              <a:rPr b="1" lang="en" sz="1100">
                <a:solidFill>
                  <a:schemeClr val="dk2"/>
                </a:solidFill>
                <a:latin typeface="Inter"/>
                <a:ea typeface="Inter"/>
                <a:cs typeface="Inter"/>
                <a:sym typeface="Inter"/>
              </a:rPr>
              <a:t>Response Quality:</a:t>
            </a:r>
            <a:r>
              <a:rPr lang="en" sz="1100">
                <a:solidFill>
                  <a:schemeClr val="dk2"/>
                </a:solidFill>
                <a:latin typeface="Inter"/>
                <a:ea typeface="Inter"/>
                <a:cs typeface="Inter"/>
                <a:sym typeface="Inter"/>
              </a:rPr>
              <a:t> Wrong. Mistral gave 25.0–50.0 kGy, then said it could not find the batch value. The confidence check rated it Low, so the user is warned.</a:t>
            </a:r>
            <a:endParaRPr sz="1100">
              <a:solidFill>
                <a:schemeClr val="dk2"/>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i="1" lang="en" sz="1100">
                <a:solidFill>
                  <a:schemeClr val="dk2"/>
                </a:solidFill>
                <a:latin typeface="Inter"/>
                <a:ea typeface="Inter"/>
                <a:cs typeface="Inter"/>
                <a:sym typeface="Inter"/>
              </a:rPr>
              <a:t>Strength: OCR, routing and retrieval all worked on a scanned page. Limitation: a 7B model can still read the wrong line of a table.</a:t>
            </a:r>
            <a:endParaRPr i="1" sz="1100">
              <a:solidFill>
                <a:schemeClr val="dk2"/>
              </a:solidFill>
              <a:latin typeface="Inter"/>
              <a:ea typeface="Inter"/>
              <a:cs typeface="Inter"/>
              <a:sym typeface="Inter"/>
            </a:endParaRPr>
          </a:p>
          <a:p>
            <a:pPr indent="0" lvl="0" marL="0" rtl="0" algn="l">
              <a:lnSpc>
                <a:spcPct val="115000"/>
              </a:lnSpc>
              <a:spcBef>
                <a:spcPts val="1200"/>
              </a:spcBef>
              <a:spcAft>
                <a:spcPts val="1200"/>
              </a:spcAft>
              <a:buNone/>
            </a:pPr>
            <a:r>
              <a:rPr i="1" lang="en" sz="1100">
                <a:solidFill>
                  <a:schemeClr val="dk1"/>
                </a:solidFill>
              </a:rPr>
              <a:t>UI: the Low-confidence answer and its sources →</a:t>
            </a:r>
            <a:endParaRPr b="1" sz="1300">
              <a:solidFill>
                <a:schemeClr val="dk2"/>
              </a:solidFill>
              <a:latin typeface="Inter"/>
              <a:ea typeface="Inter"/>
              <a:cs typeface="Inter"/>
              <a:sym typeface="Inter"/>
            </a:endParaRPr>
          </a:p>
        </p:txBody>
      </p:sp>
      <p:pic>
        <p:nvPicPr>
          <p:cNvPr id="106" name="UI screenshot" descr="image.png"/>
          <p:cNvPicPr>
            <a:picLocks noChangeAspect="1"/>
          </p:cNvPicPr>
          <p:nvPr/>
        </p:nvPicPr>
        <p:blipFill>
          <a:blip r:embed="rId3"/>
          <a:stretch>
            <a:fillRect/>
          </a:stretch>
        </p:blipFill>
        <p:spPr>
          <a:xfrm>
            <a:off x="5669024" y="1001200"/>
            <a:ext cx="3220901" cy="36933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9"/>
          <p:cNvSpPr txBox="1"/>
          <p:nvPr/>
        </p:nvSpPr>
        <p:spPr>
          <a:xfrm>
            <a:off x="471900" y="376725"/>
            <a:ext cx="8200200" cy="2463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400"/>
              </a:spcAft>
              <a:buNone/>
            </a:pPr>
            <a:r>
              <a:rPr lang="en" sz="1600">
                <a:solidFill>
                  <a:schemeClr val="dk2"/>
                </a:solidFill>
                <a:latin typeface="Inter"/>
                <a:ea typeface="Inter"/>
                <a:cs typeface="Inter"/>
                <a:sym typeface="Inter"/>
              </a:rPr>
              <a:t>Design Decision Analysis | Open-Source, Measured, Traceable</a:t>
            </a:r>
            <a:endParaRPr i="1" sz="1000">
              <a:solidFill>
                <a:srgbClr val="575757"/>
              </a:solidFill>
              <a:latin typeface="Trebuchet MS"/>
              <a:ea typeface="Trebuchet MS"/>
              <a:cs typeface="Trebuchet MS"/>
              <a:sym typeface="Trebuchet MS"/>
            </a:endParaRPr>
          </a:p>
        </p:txBody>
      </p:sp>
      <p:sp>
        <p:nvSpPr>
          <p:cNvPr id="111" name="Google Shape;111;p19"/>
          <p:cNvSpPr txBox="1"/>
          <p:nvPr/>
        </p:nvSpPr>
        <p:spPr>
          <a:xfrm>
            <a:off x="472475" y="4150340"/>
            <a:ext cx="5745600" cy="541200"/>
          </a:xfrm>
          <a:prstGeom prst="rect">
            <a:avLst/>
          </a:prstGeom>
          <a:solidFill>
            <a:srgbClr val="D4DF33"/>
          </a:solidFill>
          <a:ln>
            <a:noFill/>
          </a:ln>
        </p:spPr>
        <p:txBody>
          <a:bodyPr anchorCtr="0" anchor="ctr" bIns="34275" lIns="68575" spcFirstLastPara="1" rIns="68575" wrap="square" tIns="34275">
            <a:noAutofit/>
          </a:bodyPr>
          <a:lstStyle/>
          <a:p>
            <a:pPr indent="0" lvl="0" marL="0" rtl="0" algn="l">
              <a:lnSpc>
                <a:spcPct val="115000"/>
              </a:lnSpc>
              <a:spcBef>
                <a:spcPts val="1200"/>
              </a:spcBef>
              <a:spcAft>
                <a:spcPts val="0"/>
              </a:spcAft>
              <a:buClr>
                <a:schemeClr val="dk1"/>
              </a:buClr>
              <a:buSzPts val="1100"/>
              <a:buFont typeface="Arial"/>
              <a:buNone/>
            </a:pPr>
            <a:r>
              <a:rPr i="1" lang="en" sz="1100">
                <a:solidFill>
                  <a:schemeClr val="dk1"/>
                </a:solidFill>
                <a:latin typeface="Inter"/>
                <a:ea typeface="Inter"/>
                <a:cs typeface="Inter"/>
                <a:sym typeface="Inter"/>
              </a:rPr>
              <a:t>Constraints: no paid APIs, a laptop CPU for development and a free Colab T4 for running. Every choice was checked against the 10 test questions.</a:t>
            </a:r>
            <a:endParaRPr i="1" sz="1100">
              <a:solidFill>
                <a:schemeClr val="dk1"/>
              </a:solidFill>
              <a:latin typeface="Inter"/>
              <a:ea typeface="Inter"/>
              <a:cs typeface="Inter"/>
              <a:sym typeface="Inter"/>
            </a:endParaRPr>
          </a:p>
          <a:p>
            <a:pPr indent="0" lvl="0" marL="0" marR="0" rtl="0" algn="l">
              <a:lnSpc>
                <a:spcPct val="100000"/>
              </a:lnSpc>
              <a:spcBef>
                <a:spcPts val="1200"/>
              </a:spcBef>
              <a:spcAft>
                <a:spcPts val="0"/>
              </a:spcAft>
              <a:buNone/>
            </a:pPr>
            <a:r>
              <a:t/>
            </a:r>
            <a:endParaRPr sz="1000">
              <a:solidFill>
                <a:srgbClr val="575757"/>
              </a:solidFill>
              <a:latin typeface="Trebuchet MS"/>
              <a:ea typeface="Trebuchet MS"/>
              <a:cs typeface="Trebuchet MS"/>
              <a:sym typeface="Trebuchet MS"/>
            </a:endParaRPr>
          </a:p>
        </p:txBody>
      </p:sp>
      <p:sp>
        <p:nvSpPr>
          <p:cNvPr id="112" name="Google Shape;112;p19"/>
          <p:cNvSpPr txBox="1"/>
          <p:nvPr/>
        </p:nvSpPr>
        <p:spPr>
          <a:xfrm>
            <a:off x="6525175" y="1241640"/>
            <a:ext cx="2325900" cy="36024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None/>
            </a:pPr>
            <a:r>
              <a:rPr lang="en" sz="900">
                <a:solidFill>
                  <a:srgbClr val="575757"/>
                </a:solidFill>
                <a:latin typeface="Inter"/>
                <a:ea typeface="Inter"/>
                <a:cs typeface="Inter"/>
                <a:sym typeface="Inter"/>
              </a:rPr>
              <a:t>🧪 </a:t>
            </a:r>
            <a:r>
              <a:rPr b="1" lang="en" sz="900">
                <a:solidFill>
                  <a:schemeClr val="dk1"/>
                </a:solidFill>
                <a:latin typeface="Inter"/>
                <a:ea typeface="Inter"/>
                <a:cs typeface="Inter"/>
                <a:sym typeface="Inter"/>
              </a:rPr>
              <a:t>Speed vs. Accuracy:</a:t>
            </a:r>
            <a:endParaRPr b="1" sz="1000">
              <a:solidFill>
                <a:schemeClr val="dk1"/>
              </a:solidFill>
              <a:latin typeface="Inter"/>
              <a:ea typeface="Inter"/>
              <a:cs typeface="Inter"/>
              <a:sym typeface="Inter"/>
            </a:endParaRPr>
          </a:p>
          <a:p>
            <a:pPr indent="-292100" lvl="0" marL="457200" rtl="0" algn="l">
              <a:lnSpc>
                <a:spcPct val="100000"/>
              </a:lnSpc>
              <a:spcBef>
                <a:spcPts val="1200"/>
              </a:spcBef>
              <a:spcAft>
                <a:spcPts val="0"/>
              </a:spcAft>
              <a:buClr>
                <a:schemeClr val="dk1"/>
              </a:buClr>
              <a:buSzPts val="1000"/>
              <a:buFont typeface="Inter"/>
              <a:buChar char="●"/>
            </a:pPr>
            <a:r>
              <a:rPr lang="en" sz="900">
                <a:solidFill>
                  <a:schemeClr val="dk1"/>
                </a:solidFill>
                <a:latin typeface="Inter"/>
                <a:ea typeface="Inter"/>
                <a:cs typeface="Inter"/>
                <a:sym typeface="Inter"/>
              </a:rPr>
              <a:t>Chose 4-bit Mistral-7B and BGE-small so everything runs free on a CPU or T4; the cost is ~33 s per answer on CPU.</a:t>
            </a:r>
            <a:endParaRPr sz="1000">
              <a:solidFill>
                <a:schemeClr val="dk1"/>
              </a:solidFill>
              <a:latin typeface="Inter"/>
              <a:ea typeface="Inter"/>
              <a:cs typeface="Inter"/>
              <a:sym typeface="Inter"/>
            </a:endParaRPr>
          </a:p>
          <a:p>
            <a:pPr indent="-292100" lvl="0" marL="457200" rtl="0" algn="l">
              <a:lnSpc>
                <a:spcPct val="100000"/>
              </a:lnSpc>
              <a:spcBef>
                <a:spcPts val="0"/>
              </a:spcBef>
              <a:spcAft>
                <a:spcPts val="0"/>
              </a:spcAft>
              <a:buClr>
                <a:schemeClr val="dk1"/>
              </a:buClr>
              <a:buSzPts val="1000"/>
              <a:buFont typeface="Inter"/>
              <a:buChar char="●"/>
            </a:pPr>
            <a:r>
              <a:rPr lang="en" sz="900">
                <a:solidFill>
                  <a:schemeClr val="dk1"/>
                </a:solidFill>
                <a:latin typeface="Inter"/>
                <a:ea typeface="Inter"/>
                <a:cs typeface="Inter"/>
                <a:sym typeface="Inter"/>
              </a:rPr>
              <a:t>For accuracy: a larger model would read tables better, and a reranker would sharpen the top-4.</a:t>
            </a:r>
            <a:endParaRPr sz="1000">
              <a:solidFill>
                <a:schemeClr val="dk1"/>
              </a:solidFill>
              <a:latin typeface="Inter"/>
              <a:ea typeface="Inter"/>
              <a:cs typeface="Inter"/>
              <a:sym typeface="Inter"/>
            </a:endParaRPr>
          </a:p>
          <a:p>
            <a:pPr indent="0" lvl="0" marL="0" rtl="0" algn="l">
              <a:lnSpc>
                <a:spcPct val="100000"/>
              </a:lnSpc>
              <a:spcBef>
                <a:spcPts val="1200"/>
              </a:spcBef>
              <a:spcAft>
                <a:spcPts val="0"/>
              </a:spcAft>
              <a:buClr>
                <a:schemeClr val="dk1"/>
              </a:buClr>
              <a:buSzPts val="1100"/>
              <a:buFont typeface="Arial"/>
              <a:buNone/>
            </a:pPr>
            <a:r>
              <a:rPr b="1" lang="en" sz="900">
                <a:solidFill>
                  <a:schemeClr val="dk1"/>
                </a:solidFill>
                <a:latin typeface="Inter"/>
                <a:ea typeface="Inter"/>
                <a:cs typeface="Inter"/>
                <a:sym typeface="Inter"/>
              </a:rPr>
              <a:t>📍Complexity vs. Maintainability:</a:t>
            </a:r>
            <a:endParaRPr b="1" sz="1000">
              <a:solidFill>
                <a:schemeClr val="dk1"/>
              </a:solidFill>
              <a:latin typeface="Inter"/>
              <a:ea typeface="Inter"/>
              <a:cs typeface="Inter"/>
              <a:sym typeface="Inter"/>
            </a:endParaRPr>
          </a:p>
          <a:p>
            <a:pPr indent="-292100" lvl="0" marL="457200" rtl="0" algn="l">
              <a:lnSpc>
                <a:spcPct val="100000"/>
              </a:lnSpc>
              <a:spcBef>
                <a:spcPts val="1200"/>
              </a:spcBef>
              <a:spcAft>
                <a:spcPts val="0"/>
              </a:spcAft>
              <a:buClr>
                <a:schemeClr val="dk1"/>
              </a:buClr>
              <a:buSzPts val="1000"/>
              <a:buFont typeface="Inter"/>
              <a:buChar char="●"/>
            </a:pPr>
            <a:r>
              <a:rPr lang="en" sz="900">
                <a:solidFill>
                  <a:schemeClr val="dk1"/>
                </a:solidFill>
                <a:latin typeface="Inter"/>
                <a:ea typeface="Inter"/>
                <a:cs typeface="Inter"/>
                <a:sym typeface="Inter"/>
              </a:rPr>
              <a:t>Kept an in-memory index and simple, explainable rules (continuation markers, ID changes) instead of extra services.</a:t>
            </a:r>
            <a:endParaRPr sz="1000">
              <a:solidFill>
                <a:schemeClr val="dk1"/>
              </a:solidFill>
              <a:latin typeface="Inter"/>
              <a:ea typeface="Inter"/>
              <a:cs typeface="Inter"/>
              <a:sym typeface="Inter"/>
            </a:endParaRPr>
          </a:p>
          <a:p>
            <a:pPr indent="-292100" lvl="0" marL="457200" rtl="0" algn="l">
              <a:lnSpc>
                <a:spcPct val="100000"/>
              </a:lnSpc>
              <a:spcBef>
                <a:spcPts val="0"/>
              </a:spcBef>
              <a:spcAft>
                <a:spcPts val="0"/>
              </a:spcAft>
              <a:buClr>
                <a:schemeClr val="dk1"/>
              </a:buClr>
              <a:buSzPts val="1000"/>
              <a:buFont typeface="Inter"/>
              <a:buChar char="●"/>
            </a:pPr>
            <a:r>
              <a:rPr lang="en" sz="900">
                <a:solidFill>
                  <a:schemeClr val="dk1"/>
                </a:solidFill>
                <a:latin typeface="Inter"/>
                <a:ea typeface="Inter"/>
                <a:cs typeface="Inter"/>
                <a:sym typeface="Inter"/>
              </a:rPr>
              <a:t>Added OCR deskew, row rebuild and exact-ID lookup: each fixed a failure the test set exposed.</a:t>
            </a:r>
            <a:endParaRPr sz="1000">
              <a:solidFill>
                <a:schemeClr val="dk1"/>
              </a:solidFill>
              <a:latin typeface="Inter"/>
              <a:ea typeface="Inter"/>
              <a:cs typeface="Inter"/>
              <a:sym typeface="Inter"/>
            </a:endParaRPr>
          </a:p>
        </p:txBody>
      </p:sp>
      <p:sp>
        <p:nvSpPr>
          <p:cNvPr id="113" name="Google Shape;113;p19"/>
          <p:cNvSpPr/>
          <p:nvPr/>
        </p:nvSpPr>
        <p:spPr>
          <a:xfrm>
            <a:off x="472500" y="952415"/>
            <a:ext cx="5745600" cy="399600"/>
          </a:xfrm>
          <a:prstGeom prst="round2SameRect">
            <a:avLst>
              <a:gd fmla="val 16667" name="adj1"/>
              <a:gd fmla="val 0" name="adj2"/>
            </a:avLst>
          </a:prstGeom>
          <a:solidFill>
            <a:srgbClr val="CCCCCC"/>
          </a:solidFill>
          <a:ln>
            <a:noFill/>
          </a:ln>
        </p:spPr>
        <p:txBody>
          <a:bodyPr anchorCtr="0" anchor="ctr" bIns="0" lIns="0" spcFirstLastPara="1" rIns="0" wrap="square" tIns="0">
            <a:noAutofit/>
          </a:bodyPr>
          <a:lstStyle/>
          <a:p>
            <a:pPr indent="0" lvl="0" marL="0" marR="0" rtl="0" algn="ctr">
              <a:lnSpc>
                <a:spcPct val="95000"/>
              </a:lnSpc>
              <a:spcBef>
                <a:spcPts val="0"/>
              </a:spcBef>
              <a:spcAft>
                <a:spcPts val="0"/>
              </a:spcAft>
              <a:buClr>
                <a:srgbClr val="FFFFFF"/>
              </a:buClr>
              <a:buSzPts val="1100"/>
              <a:buFont typeface="Trebuchet MS"/>
              <a:buNone/>
            </a:pPr>
            <a:r>
              <a:t/>
            </a:r>
            <a:endParaRPr b="0" i="0" sz="1100" u="none" cap="none" strike="noStrike">
              <a:solidFill>
                <a:schemeClr val="dk2"/>
              </a:solidFill>
              <a:latin typeface="Trebuchet MS"/>
              <a:ea typeface="Trebuchet MS"/>
              <a:cs typeface="Trebuchet MS"/>
              <a:sym typeface="Trebuchet MS"/>
            </a:endParaRPr>
          </a:p>
        </p:txBody>
      </p:sp>
      <p:sp>
        <p:nvSpPr>
          <p:cNvPr id="114" name="Google Shape;114;p19"/>
          <p:cNvSpPr/>
          <p:nvPr/>
        </p:nvSpPr>
        <p:spPr>
          <a:xfrm>
            <a:off x="615225" y="986138"/>
            <a:ext cx="5458500" cy="541200"/>
          </a:xfrm>
          <a:prstGeom prst="round2SameRect">
            <a:avLst>
              <a:gd fmla="val 16667" name="adj1"/>
              <a:gd fmla="val 0" name="adj2"/>
            </a:avLst>
          </a:prstGeom>
          <a:noFill/>
          <a:ln>
            <a:noFill/>
          </a:ln>
        </p:spPr>
        <p:txBody>
          <a:bodyPr anchorCtr="0" anchor="ctr" bIns="0" lIns="0" spcFirstLastPara="1" rIns="0" wrap="square" tIns="0">
            <a:noAutofit/>
          </a:bodyPr>
          <a:lstStyle/>
          <a:p>
            <a:pPr indent="0" lvl="0" marL="0" rtl="0" algn="ctr">
              <a:lnSpc>
                <a:spcPct val="115000"/>
              </a:lnSpc>
              <a:spcBef>
                <a:spcPts val="1400"/>
              </a:spcBef>
              <a:spcAft>
                <a:spcPts val="0"/>
              </a:spcAft>
              <a:buClr>
                <a:schemeClr val="dk1"/>
              </a:buClr>
              <a:buSzPts val="1100"/>
              <a:buFont typeface="Arial"/>
              <a:buNone/>
            </a:pPr>
            <a:r>
              <a:rPr b="1" lang="en" sz="1300">
                <a:solidFill>
                  <a:schemeClr val="dk2"/>
                </a:solidFill>
                <a:latin typeface="Inter"/>
                <a:ea typeface="Inter"/>
                <a:cs typeface="Inter"/>
                <a:sym typeface="Inter"/>
              </a:rPr>
              <a:t>Model Selection Reasoning</a:t>
            </a:r>
            <a:endParaRPr b="1" sz="1300">
              <a:solidFill>
                <a:schemeClr val="dk2"/>
              </a:solidFill>
              <a:latin typeface="Inter"/>
              <a:ea typeface="Inter"/>
              <a:cs typeface="Inter"/>
              <a:sym typeface="Inter"/>
            </a:endParaRPr>
          </a:p>
          <a:p>
            <a:pPr indent="0" lvl="0" marL="0" marR="0" rtl="0" algn="ctr">
              <a:lnSpc>
                <a:spcPct val="95000"/>
              </a:lnSpc>
              <a:spcBef>
                <a:spcPts val="400"/>
              </a:spcBef>
              <a:spcAft>
                <a:spcPts val="0"/>
              </a:spcAft>
              <a:buClr>
                <a:srgbClr val="FFFFFF"/>
              </a:buClr>
              <a:buSzPts val="1100"/>
              <a:buFont typeface="Trebuchet MS"/>
              <a:buNone/>
            </a:pPr>
            <a:r>
              <a:t/>
            </a:r>
            <a:endParaRPr b="1" sz="1100">
              <a:solidFill>
                <a:schemeClr val="dk2"/>
              </a:solidFill>
              <a:latin typeface="Trebuchet MS"/>
              <a:ea typeface="Trebuchet MS"/>
              <a:cs typeface="Trebuchet MS"/>
              <a:sym typeface="Trebuchet MS"/>
            </a:endParaRPr>
          </a:p>
        </p:txBody>
      </p:sp>
      <p:cxnSp>
        <p:nvCxnSpPr>
          <p:cNvPr id="115" name="Google Shape;115;p19"/>
          <p:cNvCxnSpPr/>
          <p:nvPr/>
        </p:nvCxnSpPr>
        <p:spPr>
          <a:xfrm>
            <a:off x="6371624" y="1083740"/>
            <a:ext cx="6300" cy="3716100"/>
          </a:xfrm>
          <a:prstGeom prst="straightConnector1">
            <a:avLst/>
          </a:prstGeom>
          <a:noFill/>
          <a:ln cap="rnd" cmpd="sng" w="9525">
            <a:solidFill>
              <a:srgbClr val="9A9A9A"/>
            </a:solidFill>
            <a:prstDash val="dot"/>
            <a:round/>
            <a:headEnd len="sm" w="sm" type="none"/>
            <a:tailEnd len="sm" w="sm" type="none"/>
          </a:ln>
        </p:spPr>
      </p:cxnSp>
      <p:sp>
        <p:nvSpPr>
          <p:cNvPr id="116" name="Google Shape;116;p19"/>
          <p:cNvSpPr/>
          <p:nvPr/>
        </p:nvSpPr>
        <p:spPr>
          <a:xfrm>
            <a:off x="6525175" y="952415"/>
            <a:ext cx="2221500" cy="399600"/>
          </a:xfrm>
          <a:prstGeom prst="round2SameRect">
            <a:avLst>
              <a:gd fmla="val 16667" name="adj1"/>
              <a:gd fmla="val 0" name="adj2"/>
            </a:avLst>
          </a:prstGeom>
          <a:solidFill>
            <a:srgbClr val="B7B7B7"/>
          </a:solidFill>
          <a:ln>
            <a:noFill/>
          </a:ln>
        </p:spPr>
        <p:txBody>
          <a:bodyPr anchorCtr="0" anchor="ctr" bIns="0" lIns="0" spcFirstLastPara="1" rIns="0" wrap="square" tIns="0">
            <a:noAutofit/>
          </a:bodyPr>
          <a:lstStyle/>
          <a:p>
            <a:pPr indent="0" lvl="0" marL="0" marR="0" rtl="0" algn="ctr">
              <a:lnSpc>
                <a:spcPct val="95000"/>
              </a:lnSpc>
              <a:spcBef>
                <a:spcPts val="0"/>
              </a:spcBef>
              <a:spcAft>
                <a:spcPts val="0"/>
              </a:spcAft>
              <a:buClr>
                <a:srgbClr val="FFFFFF"/>
              </a:buClr>
              <a:buSzPts val="1100"/>
              <a:buFont typeface="Trebuchet MS"/>
              <a:buNone/>
            </a:pPr>
            <a:r>
              <a:t/>
            </a:r>
            <a:endParaRPr b="0" i="0" sz="1100" u="none" cap="none" strike="noStrike">
              <a:solidFill>
                <a:srgbClr val="FFFFFF"/>
              </a:solidFill>
              <a:latin typeface="Trebuchet MS"/>
              <a:ea typeface="Trebuchet MS"/>
              <a:cs typeface="Trebuchet MS"/>
              <a:sym typeface="Trebuchet MS"/>
            </a:endParaRPr>
          </a:p>
        </p:txBody>
      </p:sp>
      <p:sp>
        <p:nvSpPr>
          <p:cNvPr id="117" name="Google Shape;117;p19"/>
          <p:cNvSpPr/>
          <p:nvPr/>
        </p:nvSpPr>
        <p:spPr>
          <a:xfrm>
            <a:off x="6576475" y="986140"/>
            <a:ext cx="2096100" cy="332100"/>
          </a:xfrm>
          <a:prstGeom prst="round2SameRect">
            <a:avLst>
              <a:gd fmla="val 16667" name="adj1"/>
              <a:gd fmla="val 0" name="adj2"/>
            </a:avLst>
          </a:prstGeom>
          <a:noFill/>
          <a:ln>
            <a:noFill/>
          </a:ln>
        </p:spPr>
        <p:txBody>
          <a:bodyPr anchorCtr="0" anchor="ctr" bIns="0" lIns="0" spcFirstLastPara="1" rIns="0" wrap="square" tIns="0">
            <a:noAutofit/>
          </a:bodyPr>
          <a:lstStyle/>
          <a:p>
            <a:pPr indent="0" lvl="0" marL="0" marR="0" rtl="0" algn="ctr">
              <a:lnSpc>
                <a:spcPct val="95000"/>
              </a:lnSpc>
              <a:spcBef>
                <a:spcPts val="0"/>
              </a:spcBef>
              <a:spcAft>
                <a:spcPts val="0"/>
              </a:spcAft>
              <a:buClr>
                <a:srgbClr val="FFFFFF"/>
              </a:buClr>
              <a:buSzPts val="1100"/>
              <a:buFont typeface="Trebuchet MS"/>
              <a:buNone/>
            </a:pPr>
            <a:r>
              <a:rPr b="1" lang="en" sz="1300">
                <a:solidFill>
                  <a:schemeClr val="dk2"/>
                </a:solidFill>
                <a:latin typeface="Inter"/>
                <a:ea typeface="Inter"/>
                <a:cs typeface="Inter"/>
                <a:sym typeface="Inter"/>
              </a:rPr>
              <a:t>Key Trade-offs Made</a:t>
            </a:r>
            <a:endParaRPr b="1" sz="1300">
              <a:solidFill>
                <a:schemeClr val="dk2"/>
              </a:solidFill>
              <a:latin typeface="Inter"/>
              <a:ea typeface="Inter"/>
              <a:cs typeface="Inter"/>
              <a:sym typeface="Inter"/>
            </a:endParaRPr>
          </a:p>
        </p:txBody>
      </p:sp>
      <p:graphicFrame>
        <p:nvGraphicFramePr>
          <p:cNvPr id="118" name="Google Shape;118;p19"/>
          <p:cNvGraphicFramePr/>
          <p:nvPr/>
        </p:nvGraphicFramePr>
        <p:xfrm>
          <a:off x="472500" y="1533265"/>
          <a:ext cx="3000000" cy="3000000"/>
        </p:xfrm>
        <a:graphic>
          <a:graphicData uri="http://schemas.openxmlformats.org/drawingml/2006/table">
            <a:tbl>
              <a:tblPr>
                <a:noFill/>
                <a:tableStyleId>{561E6B1B-CC9E-4A57-9FAC-BEAC68AC436B}</a:tableStyleId>
              </a:tblPr>
              <a:tblGrid>
                <a:gridCol w="1468075"/>
                <a:gridCol w="1880000"/>
                <a:gridCol w="2397525"/>
              </a:tblGrid>
              <a:tr h="274875">
                <a:tc>
                  <a:txBody>
                    <a:bodyPr/>
                    <a:lstStyle/>
                    <a:p>
                      <a:pPr indent="0" lvl="0" marL="0" rtl="0" algn="l">
                        <a:lnSpc>
                          <a:spcPct val="115000"/>
                        </a:lnSpc>
                        <a:spcBef>
                          <a:spcPts val="0"/>
                        </a:spcBef>
                        <a:spcAft>
                          <a:spcPts val="0"/>
                        </a:spcAft>
                        <a:buNone/>
                      </a:pPr>
                      <a:r>
                        <a:rPr lang="en" sz="1000">
                          <a:latin typeface="Inter"/>
                          <a:ea typeface="Inter"/>
                          <a:cs typeface="Inter"/>
                          <a:sym typeface="Inter"/>
                        </a:rPr>
                        <a:t>Decision</a:t>
                      </a:r>
                      <a:endParaRPr sz="1000">
                        <a:latin typeface="Inter"/>
                        <a:ea typeface="Inter"/>
                        <a:cs typeface="Inter"/>
                        <a:sym typeface="Inter"/>
                      </a:endParaRPr>
                    </a:p>
                  </a:txBody>
                  <a:tcPr marT="19050" marB="19050" marR="28575" marL="28575" anchor="ctr">
                    <a:lnB cap="flat" cmpd="sng" w="53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Inter"/>
                          <a:ea typeface="Inter"/>
                          <a:cs typeface="Inter"/>
                          <a:sym typeface="Inter"/>
                        </a:rPr>
                        <a:t>Rationale</a:t>
                      </a:r>
                      <a:endParaRPr sz="1000">
                        <a:latin typeface="Inter"/>
                        <a:ea typeface="Inter"/>
                        <a:cs typeface="Inter"/>
                        <a:sym typeface="Inter"/>
                      </a:endParaRPr>
                    </a:p>
                  </a:txBody>
                  <a:tcPr marT="19050" marB="19050" marR="28575" marL="28575" anchor="ctr">
                    <a:lnB cap="flat" cmpd="sng" w="53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Inter"/>
                          <a:ea typeface="Inter"/>
                          <a:cs typeface="Inter"/>
                          <a:sym typeface="Inter"/>
                        </a:rPr>
                        <a:t>Trade-offs Considered</a:t>
                      </a:r>
                      <a:endParaRPr sz="1000">
                        <a:latin typeface="Inter"/>
                        <a:ea typeface="Inter"/>
                        <a:cs typeface="Inter"/>
                        <a:sym typeface="Inter"/>
                      </a:endParaRPr>
                    </a:p>
                  </a:txBody>
                  <a:tcPr marT="19050" marB="19050" marR="28575" marL="28575" anchor="ctr">
                    <a:lnB cap="flat" cmpd="sng" w="5300">
                      <a:solidFill>
                        <a:srgbClr val="000000"/>
                      </a:solidFill>
                      <a:prstDash val="solid"/>
                      <a:round/>
                      <a:headEnd len="sm" w="sm" type="none"/>
                      <a:tailEnd len="sm" w="sm" type="none"/>
                    </a:lnB>
                  </a:tcPr>
                </a:tc>
              </a:tr>
              <a:tr h="499775">
                <a:tc>
                  <a:txBody>
                    <a:bodyPr/>
                    <a:lstStyle/>
                    <a:p>
                      <a:pPr indent="0" lvl="0" marL="0" rtl="0" algn="l">
                        <a:lnSpc>
                          <a:spcPct val="115000"/>
                        </a:lnSpc>
                        <a:spcBef>
                          <a:spcPts val="0"/>
                        </a:spcBef>
                        <a:spcAft>
                          <a:spcPts val="0"/>
                        </a:spcAft>
                        <a:buNone/>
                      </a:pPr>
                      <a:r>
                        <a:rPr lang="en" sz="1000">
                          <a:latin typeface="Inter"/>
                          <a:ea typeface="Inter"/>
                          <a:cs typeface="Inter"/>
                          <a:sym typeface="Inter"/>
                        </a:rPr>
                        <a:t>BGE-small-en-v1.5</a:t>
                      </a:r>
                      <a:endParaRPr sz="1000">
                        <a:latin typeface="Inter"/>
                        <a:ea typeface="Inter"/>
                        <a:cs typeface="Inter"/>
                        <a:sym typeface="Inter"/>
                      </a:endParaRPr>
                    </a:p>
                  </a:txBody>
                  <a:tcPr marT="19050" marB="19050" marR="28575" marL="28575" anchor="ctr">
                    <a:lnT cap="flat" cmpd="sng" w="5300">
                      <a:solidFill>
                        <a:srgbClr val="000000"/>
                      </a:solidFill>
                      <a:prstDash val="solid"/>
                      <a:round/>
                      <a:headEnd len="sm" w="sm" type="none"/>
                      <a:tailEnd len="sm" w="sm" type="none"/>
                    </a:lnT>
                    <a:lnB cap="flat" cmpd="sng" w="5300">
                      <a:solidFill>
                        <a:srgbClr val="000000"/>
                      </a:solidFill>
                      <a:prstDash val="dash"/>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Inter"/>
                          <a:ea typeface="Inter"/>
                          <a:cs typeface="Inter"/>
                          <a:sym typeface="Inter"/>
                        </a:rPr>
                        <a:t>Best retrieval in my Project 6 comparison (vs. MiniLM, E5); small and free</a:t>
                      </a:r>
                      <a:endParaRPr sz="1000">
                        <a:latin typeface="Inter"/>
                        <a:ea typeface="Inter"/>
                        <a:cs typeface="Inter"/>
                        <a:sym typeface="Inter"/>
                      </a:endParaRPr>
                    </a:p>
                  </a:txBody>
                  <a:tcPr marT="19050" marB="19050" marR="28575" marL="28575" anchor="ctr">
                    <a:lnT cap="flat" cmpd="sng" w="5300">
                      <a:solidFill>
                        <a:srgbClr val="000000"/>
                      </a:solidFill>
                      <a:prstDash val="solid"/>
                      <a:round/>
                      <a:headEnd len="sm" w="sm" type="none"/>
                      <a:tailEnd len="sm" w="sm" type="none"/>
                    </a:lnT>
                    <a:lnB cap="flat" cmpd="sng" w="5300">
                      <a:solidFill>
                        <a:srgbClr val="000000"/>
                      </a:solidFill>
                      <a:prstDash val="dash"/>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Inter"/>
                          <a:ea typeface="Inter"/>
                          <a:cs typeface="Inter"/>
                          <a:sym typeface="Inter"/>
                        </a:rPr>
                        <a:t>Larger embedders might rank better but run slower</a:t>
                      </a:r>
                      <a:endParaRPr sz="1000">
                        <a:latin typeface="Inter"/>
                        <a:ea typeface="Inter"/>
                        <a:cs typeface="Inter"/>
                        <a:sym typeface="Inter"/>
                      </a:endParaRPr>
                    </a:p>
                  </a:txBody>
                  <a:tcPr marT="19050" marB="19050" marR="28575" marL="28575" anchor="ctr">
                    <a:lnT cap="flat" cmpd="sng" w="5300">
                      <a:solidFill>
                        <a:srgbClr val="000000"/>
                      </a:solidFill>
                      <a:prstDash val="solid"/>
                      <a:round/>
                      <a:headEnd len="sm" w="sm" type="none"/>
                      <a:tailEnd len="sm" w="sm" type="none"/>
                    </a:lnT>
                    <a:lnB cap="flat" cmpd="sng" w="5300">
                      <a:solidFill>
                        <a:srgbClr val="000000"/>
                      </a:solidFill>
                      <a:prstDash val="dash"/>
                      <a:round/>
                      <a:headEnd len="sm" w="sm" type="none"/>
                      <a:tailEnd len="sm" w="sm" type="none"/>
                    </a:lnB>
                  </a:tcPr>
                </a:tc>
              </a:tr>
              <a:tr h="499775">
                <a:tc>
                  <a:txBody>
                    <a:bodyPr/>
                    <a:lstStyle/>
                    <a:p>
                      <a:pPr indent="0" lvl="0" marL="0" rtl="0" algn="l">
                        <a:lnSpc>
                          <a:spcPct val="115000"/>
                        </a:lnSpc>
                        <a:spcBef>
                          <a:spcPts val="0"/>
                        </a:spcBef>
                        <a:spcAft>
                          <a:spcPts val="0"/>
                        </a:spcAft>
                        <a:buNone/>
                      </a:pPr>
                      <a:r>
                        <a:rPr lang="en" sz="1000">
                          <a:latin typeface="Inter"/>
                          <a:ea typeface="Inter"/>
                          <a:cs typeface="Inter"/>
                          <a:sym typeface="Inter"/>
                        </a:rPr>
                        <a:t>256 tokens, line breaks, one doc per page</a:t>
                      </a:r>
                      <a:endParaRPr sz="1000">
                        <a:latin typeface="Inter"/>
                        <a:ea typeface="Inter"/>
                        <a:cs typeface="Inter"/>
                        <a:sym typeface="Inter"/>
                      </a:endParaRPr>
                    </a:p>
                  </a:txBody>
                  <a:tcPr marT="19050" marB="19050" marR="28575" marL="28575" anchor="ctr">
                    <a:lnT cap="flat" cmpd="sng" w="5300">
                      <a:solidFill>
                        <a:srgbClr val="000000"/>
                      </a:solidFill>
                      <a:prstDash val="dash"/>
                      <a:round/>
                      <a:headEnd len="sm" w="sm" type="none"/>
                      <a:tailEnd len="sm" w="sm" type="none"/>
                    </a:lnT>
                    <a:lnB cap="flat" cmpd="sng" w="5300">
                      <a:solidFill>
                        <a:srgbClr val="000000"/>
                      </a:solidFill>
                      <a:prstDash val="dash"/>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Inter"/>
                          <a:ea typeface="Inter"/>
                          <a:cs typeface="Inter"/>
                          <a:sym typeface="Inter"/>
                        </a:rPr>
                        <a:t>Keeps table rows whole and every chunk inside one document</a:t>
                      </a:r>
                      <a:endParaRPr sz="1000">
                        <a:latin typeface="Inter"/>
                        <a:ea typeface="Inter"/>
                        <a:cs typeface="Inter"/>
                        <a:sym typeface="Inter"/>
                      </a:endParaRPr>
                    </a:p>
                  </a:txBody>
                  <a:tcPr marT="19050" marB="19050" marR="28575" marL="28575" anchor="ctr">
                    <a:lnT cap="flat" cmpd="sng" w="5300">
                      <a:solidFill>
                        <a:srgbClr val="000000"/>
                      </a:solidFill>
                      <a:prstDash val="dash"/>
                      <a:round/>
                      <a:headEnd len="sm" w="sm" type="none"/>
                      <a:tailEnd len="sm" w="sm" type="none"/>
                    </a:lnT>
                    <a:lnB cap="flat" cmpd="sng" w="5300">
                      <a:solidFill>
                        <a:srgbClr val="000000"/>
                      </a:solidFill>
                      <a:prstDash val="dash"/>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Inter"/>
                          <a:ea typeface="Inter"/>
                          <a:cs typeface="Inter"/>
                          <a:sym typeface="Inter"/>
                        </a:rPr>
                        <a:t>Sliding window across pages: mixed documents in one chunk</a:t>
                      </a:r>
                      <a:endParaRPr sz="1000">
                        <a:latin typeface="Inter"/>
                        <a:ea typeface="Inter"/>
                        <a:cs typeface="Inter"/>
                        <a:sym typeface="Inter"/>
                      </a:endParaRPr>
                    </a:p>
                  </a:txBody>
                  <a:tcPr marT="19050" marB="19050" marR="28575" marL="28575" anchor="ctr">
                    <a:lnT cap="flat" cmpd="sng" w="5300">
                      <a:solidFill>
                        <a:srgbClr val="000000"/>
                      </a:solidFill>
                      <a:prstDash val="dash"/>
                      <a:round/>
                      <a:headEnd len="sm" w="sm" type="none"/>
                      <a:tailEnd len="sm" w="sm" type="none"/>
                    </a:lnT>
                    <a:lnB cap="flat" cmpd="sng" w="5300">
                      <a:solidFill>
                        <a:srgbClr val="000000"/>
                      </a:solidFill>
                      <a:prstDash val="dash"/>
                      <a:round/>
                      <a:headEnd len="sm" w="sm" type="none"/>
                      <a:tailEnd len="sm" w="sm" type="none"/>
                    </a:lnB>
                  </a:tcPr>
                </a:tc>
              </a:tr>
              <a:tr h="499775">
                <a:tc>
                  <a:txBody>
                    <a:bodyPr/>
                    <a:lstStyle/>
                    <a:p>
                      <a:pPr indent="0" lvl="0" marL="0" rtl="0" algn="l">
                        <a:lnSpc>
                          <a:spcPct val="115000"/>
                        </a:lnSpc>
                        <a:spcBef>
                          <a:spcPts val="0"/>
                        </a:spcBef>
                        <a:spcAft>
                          <a:spcPts val="0"/>
                        </a:spcAft>
                        <a:buNone/>
                      </a:pPr>
                      <a:r>
                        <a:rPr lang="en" sz="1000">
                          <a:latin typeface="Inter"/>
                          <a:ea typeface="Inter"/>
                          <a:cs typeface="Inter"/>
                          <a:sym typeface="Inter"/>
                        </a:rPr>
                        <a:t>Mistral-7B-Instruct, local</a:t>
                      </a:r>
                      <a:endParaRPr sz="1000">
                        <a:latin typeface="Inter"/>
                        <a:ea typeface="Inter"/>
                        <a:cs typeface="Inter"/>
                        <a:sym typeface="Inter"/>
                      </a:endParaRPr>
                    </a:p>
                  </a:txBody>
                  <a:tcPr marT="19050" marB="19050" marR="28575" marL="28575" anchor="ctr">
                    <a:lnT cap="flat" cmpd="sng" w="5300">
                      <a:solidFill>
                        <a:srgbClr val="000000"/>
                      </a:solidFill>
                      <a:prstDash val="dash"/>
                      <a:round/>
                      <a:headEnd len="sm" w="sm" type="none"/>
                      <a:tailEnd len="sm" w="sm" type="none"/>
                    </a:lnT>
                    <a:lnB cap="flat" cmpd="sng" w="5300">
                      <a:solidFill>
                        <a:srgbClr val="000000"/>
                      </a:solidFill>
                      <a:prstDash val="dash"/>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Inter"/>
                          <a:ea typeface="Inter"/>
                          <a:cs typeface="Inter"/>
                          <a:sym typeface="Inter"/>
                        </a:rPr>
                        <a:t>Most accurate open model I tested (vs. Phi-2, TinyLlama); data stays local</a:t>
                      </a:r>
                      <a:endParaRPr sz="1000">
                        <a:latin typeface="Inter"/>
                        <a:ea typeface="Inter"/>
                        <a:cs typeface="Inter"/>
                        <a:sym typeface="Inter"/>
                      </a:endParaRPr>
                    </a:p>
                  </a:txBody>
                  <a:tcPr marT="19050" marB="19050" marR="28575" marL="28575" anchor="ctr">
                    <a:lnT cap="flat" cmpd="sng" w="5300">
                      <a:solidFill>
                        <a:srgbClr val="000000"/>
                      </a:solidFill>
                      <a:prstDash val="dash"/>
                      <a:round/>
                      <a:headEnd len="sm" w="sm" type="none"/>
                      <a:tailEnd len="sm" w="sm" type="none"/>
                    </a:lnT>
                    <a:lnB cap="flat" cmpd="sng" w="5300">
                      <a:solidFill>
                        <a:srgbClr val="000000"/>
                      </a:solidFill>
                      <a:prstDash val="dash"/>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Inter"/>
                          <a:ea typeface="Inter"/>
                          <a:cs typeface="Inter"/>
                          <a:sym typeface="Inter"/>
                        </a:rPr>
                        <a:t>Slower and weaker than Gemini on tables; 3 of 10 answers wrong</a:t>
                      </a:r>
                      <a:endParaRPr sz="1000">
                        <a:latin typeface="Inter"/>
                        <a:ea typeface="Inter"/>
                        <a:cs typeface="Inter"/>
                        <a:sym typeface="Inter"/>
                      </a:endParaRPr>
                    </a:p>
                  </a:txBody>
                  <a:tcPr marT="19050" marB="19050" marR="28575" marL="28575" anchor="ctr">
                    <a:lnT cap="flat" cmpd="sng" w="5300">
                      <a:solidFill>
                        <a:srgbClr val="000000"/>
                      </a:solidFill>
                      <a:prstDash val="dash"/>
                      <a:round/>
                      <a:headEnd len="sm" w="sm" type="none"/>
                      <a:tailEnd len="sm" w="sm" type="none"/>
                    </a:lnT>
                    <a:lnB cap="flat" cmpd="sng" w="9525">
                      <a:solidFill>
                        <a:srgbClr val="000000"/>
                      </a:solidFill>
                      <a:prstDash val="dot"/>
                      <a:round/>
                      <a:headEnd len="sm" w="sm" type="none"/>
                      <a:tailEnd len="sm" w="sm" type="none"/>
                    </a:lnB>
                  </a:tcPr>
                </a:tc>
              </a:tr>
              <a:tr h="499775">
                <a:tc>
                  <a:txBody>
                    <a:bodyPr/>
                    <a:lstStyle/>
                    <a:p>
                      <a:pPr indent="0" lvl="0" marL="0" rtl="0" algn="l">
                        <a:lnSpc>
                          <a:spcPct val="115000"/>
                        </a:lnSpc>
                        <a:spcBef>
                          <a:spcPts val="0"/>
                        </a:spcBef>
                        <a:spcAft>
                          <a:spcPts val="0"/>
                        </a:spcAft>
                        <a:buNone/>
                      </a:pPr>
                      <a:r>
                        <a:rPr lang="en" sz="1000">
                          <a:latin typeface="Inter"/>
                          <a:ea typeface="Inter"/>
                          <a:cs typeface="Inter"/>
                          <a:sym typeface="Inter"/>
                        </a:rPr>
                        <a:t>LlamaIndex in-memory index</a:t>
                      </a:r>
                      <a:endParaRPr sz="1000">
                        <a:latin typeface="Inter"/>
                        <a:ea typeface="Inter"/>
                        <a:cs typeface="Inter"/>
                        <a:sym typeface="Inter"/>
                      </a:endParaRPr>
                    </a:p>
                  </a:txBody>
                  <a:tcPr marT="19050" marB="19050" marR="28575" marL="28575" anchor="ctr">
                    <a:lnT cap="flat" cmpd="sng" w="5300">
                      <a:solidFill>
                        <a:srgbClr val="000000"/>
                      </a:solidFill>
                      <a:prstDash val="dash"/>
                      <a:round/>
                      <a:headEnd len="sm" w="sm" type="none"/>
                      <a:tailEnd len="sm" w="sm" type="none"/>
                    </a:lnT>
                    <a:lnB cap="flat" cmpd="sng" w="5300">
                      <a:solidFill>
                        <a:srgbClr val="000000"/>
                      </a:solidFill>
                      <a:prstDash val="dash"/>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Inter"/>
                          <a:ea typeface="Inter"/>
                          <a:cs typeface="Inter"/>
                          <a:sym typeface="Inter"/>
                        </a:rPr>
                        <a:t>Zero setup, metadata filters built in, enough for 51 chunks</a:t>
                      </a:r>
                      <a:endParaRPr sz="1000">
                        <a:latin typeface="Inter"/>
                        <a:ea typeface="Inter"/>
                        <a:cs typeface="Inter"/>
                        <a:sym typeface="Inter"/>
                      </a:endParaRPr>
                    </a:p>
                  </a:txBody>
                  <a:tcPr marT="19050" marB="19050" marR="28575" marL="28575" anchor="ctr">
                    <a:lnT cap="flat" cmpd="sng" w="5300">
                      <a:solidFill>
                        <a:srgbClr val="000000"/>
                      </a:solidFill>
                      <a:prstDash val="dash"/>
                      <a:round/>
                      <a:headEnd len="sm" w="sm" type="none"/>
                      <a:tailEnd len="sm" w="sm" type="none"/>
                    </a:lnT>
                    <a:lnB cap="flat" cmpd="sng" w="5300">
                      <a:solidFill>
                        <a:srgbClr val="000000"/>
                      </a:solidFill>
                      <a:prstDash val="dash"/>
                      <a:round/>
                      <a:headEnd len="sm" w="sm" type="none"/>
                      <a:tailEnd len="sm" w="sm" type="none"/>
                    </a:lnB>
                  </a:tcPr>
                </a:tc>
                <a:tc>
                  <a:txBody>
                    <a:bodyPr/>
                    <a:lstStyle/>
                    <a:p>
                      <a:pPr indent="0" lvl="0" marL="0" rtl="0" algn="l">
                        <a:spcBef>
                          <a:spcPts val="0"/>
                        </a:spcBef>
                        <a:spcAft>
                          <a:spcPts val="0"/>
                        </a:spcAft>
                        <a:buNone/>
                      </a:pPr>
                      <a:r>
                        <a:rPr lang="en" sz="1000">
                          <a:latin typeface="Inter"/>
                          <a:ea typeface="Inter"/>
                          <a:cs typeface="Inter"/>
                          <a:sym typeface="Inter"/>
                        </a:rPr>
                        <a:t>FAISS or Qdrant for persistence and scale</a:t>
                      </a:r>
                      <a:endParaRPr sz="1000">
                        <a:latin typeface="Inter"/>
                        <a:ea typeface="Inter"/>
                        <a:cs typeface="Inter"/>
                        <a:sym typeface="Inter"/>
                      </a:endParaRPr>
                    </a:p>
                  </a:txBody>
                  <a:tcPr marT="91425" marB="91425" marR="91425" marL="91425" anchor="ctr">
                    <a:lnT cap="flat" cmpd="sng" w="9525">
                      <a:solidFill>
                        <a:srgbClr val="000000"/>
                      </a:solidFill>
                      <a:prstDash val="dot"/>
                      <a:round/>
                      <a:headEnd len="sm" w="sm" type="none"/>
                      <a:tailEnd len="sm" w="sm" type="none"/>
                    </a:lnT>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0"/>
          <p:cNvSpPr txBox="1"/>
          <p:nvPr/>
        </p:nvSpPr>
        <p:spPr>
          <a:xfrm>
            <a:off x="582875" y="956000"/>
            <a:ext cx="4225500" cy="3885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000">
                <a:solidFill>
                  <a:srgbClr val="666666"/>
                </a:solidFill>
                <a:latin typeface="Inter"/>
                <a:ea typeface="Inter"/>
                <a:cs typeface="Inter"/>
                <a:sym typeface="Inter"/>
              </a:rPr>
              <a:t>Current Limitations</a:t>
            </a:r>
            <a:endParaRPr b="1" sz="1300">
              <a:solidFill>
                <a:srgbClr val="666666"/>
              </a:solidFill>
              <a:latin typeface="Inter"/>
              <a:ea typeface="Inter"/>
              <a:cs typeface="Inter"/>
              <a:sym typeface="Inter"/>
            </a:endParaRPr>
          </a:p>
          <a:p>
            <a:pPr indent="-298450" lvl="0" marL="457200" rtl="0" algn="l">
              <a:lnSpc>
                <a:spcPct val="115000"/>
              </a:lnSpc>
              <a:spcBef>
                <a:spcPts val="1200"/>
              </a:spcBef>
              <a:spcAft>
                <a:spcPts val="0"/>
              </a:spcAft>
              <a:buClr>
                <a:srgbClr val="666666"/>
              </a:buClr>
              <a:buSzPts val="1100"/>
              <a:buFont typeface="Inter"/>
              <a:buAutoNum type="arabicPeriod"/>
            </a:pPr>
            <a:r>
              <a:rPr b="1" lang="en" sz="1000">
                <a:solidFill>
                  <a:srgbClr val="666666"/>
                </a:solidFill>
                <a:latin typeface="Inter"/>
                <a:ea typeface="Inter"/>
                <a:cs typeface="Inter"/>
                <a:sym typeface="Inter"/>
              </a:rPr>
              <a:t>Answer Generation (Mistral-7B)</a:t>
            </a:r>
            <a:endParaRPr b="1" sz="1100">
              <a:solidFill>
                <a:srgbClr val="666666"/>
              </a:solidFill>
              <a:latin typeface="Inter"/>
              <a:ea typeface="Inter"/>
              <a:cs typeface="Inter"/>
              <a:sym typeface="Inter"/>
            </a:endParaRPr>
          </a:p>
          <a:p>
            <a:pPr indent="-298450" lvl="1" marL="914400" rtl="0" algn="l">
              <a:lnSpc>
                <a:spcPct val="115000"/>
              </a:lnSpc>
              <a:spcBef>
                <a:spcPts val="0"/>
              </a:spcBef>
              <a:spcAft>
                <a:spcPts val="0"/>
              </a:spcAft>
              <a:buClr>
                <a:srgbClr val="666666"/>
              </a:buClr>
              <a:buSzPts val="1100"/>
              <a:buFont typeface="Inter"/>
              <a:buChar char="○"/>
            </a:pPr>
            <a:r>
              <a:rPr lang="en" sz="1000">
                <a:solidFill>
                  <a:srgbClr val="666666"/>
                </a:solidFill>
                <a:latin typeface="Inter"/>
                <a:ea typeface="Inter"/>
                <a:cs typeface="Inter"/>
                <a:sym typeface="Inter"/>
              </a:rPr>
              <a:t>Misreads tables: took "Validated Dose Range" over the batch's own row</a:t>
            </a:r>
            <a:endParaRPr sz="1100">
              <a:solidFill>
                <a:srgbClr val="666666"/>
              </a:solidFill>
              <a:latin typeface="Inter"/>
              <a:ea typeface="Inter"/>
              <a:cs typeface="Inter"/>
              <a:sym typeface="Inter"/>
            </a:endParaRPr>
          </a:p>
          <a:p>
            <a:pPr indent="-298450" lvl="1" marL="914400" rtl="0" algn="l">
              <a:lnSpc>
                <a:spcPct val="115000"/>
              </a:lnSpc>
              <a:spcBef>
                <a:spcPts val="0"/>
              </a:spcBef>
              <a:spcAft>
                <a:spcPts val="0"/>
              </a:spcAft>
              <a:buClr>
                <a:srgbClr val="666666"/>
              </a:buClr>
              <a:buSzPts val="1100"/>
              <a:buFont typeface="Inter"/>
              <a:buChar char="○"/>
            </a:pPr>
            <a:r>
              <a:rPr lang="en" sz="1000">
                <a:solidFill>
                  <a:srgbClr val="666666"/>
                </a:solidFill>
                <a:latin typeface="Inter"/>
                <a:ea typeface="Inter"/>
                <a:cs typeface="Inter"/>
                <a:sym typeface="Inter"/>
              </a:rPr>
              <a:t>Incomplete answers: listed 1 of 5 sub-suppliers, yet rated High</a:t>
            </a:r>
            <a:endParaRPr sz="1100">
              <a:solidFill>
                <a:srgbClr val="666666"/>
              </a:solidFill>
              <a:latin typeface="Inter"/>
              <a:ea typeface="Inter"/>
              <a:cs typeface="Inter"/>
              <a:sym typeface="Inter"/>
            </a:endParaRPr>
          </a:p>
          <a:p>
            <a:pPr indent="-298450" lvl="0" marL="457200" rtl="0" algn="l">
              <a:lnSpc>
                <a:spcPct val="115000"/>
              </a:lnSpc>
              <a:spcBef>
                <a:spcPts val="1200"/>
              </a:spcBef>
              <a:spcAft>
                <a:spcPts val="0"/>
              </a:spcAft>
              <a:buClr>
                <a:srgbClr val="666666"/>
              </a:buClr>
              <a:buSzPts val="1100"/>
              <a:buFont typeface="Inter"/>
              <a:buAutoNum type="arabicPeriod"/>
            </a:pPr>
            <a:r>
              <a:rPr b="1" lang="en" sz="1000">
                <a:solidFill>
                  <a:srgbClr val="666666"/>
                </a:solidFill>
                <a:latin typeface="Inter"/>
                <a:ea typeface="Inter"/>
                <a:cs typeface="Inter"/>
                <a:sym typeface="Inter"/>
              </a:rPr>
              <a:t>Routing &amp; Confidence</a:t>
            </a:r>
            <a:endParaRPr b="1" sz="1100">
              <a:solidFill>
                <a:srgbClr val="666666"/>
              </a:solidFill>
              <a:latin typeface="Inter"/>
              <a:ea typeface="Inter"/>
              <a:cs typeface="Inter"/>
              <a:sym typeface="Inter"/>
            </a:endParaRPr>
          </a:p>
          <a:p>
            <a:pPr indent="-298450" lvl="1" marL="914400" rtl="0" algn="l">
              <a:lnSpc>
                <a:spcPct val="115000"/>
              </a:lnSpc>
              <a:spcBef>
                <a:spcPts val="0"/>
              </a:spcBef>
              <a:spcAft>
                <a:spcPts val="0"/>
              </a:spcAft>
              <a:buClr>
                <a:srgbClr val="666666"/>
              </a:buClr>
              <a:buSzPts val="1100"/>
              <a:buFont typeface="Inter"/>
              <a:buChar char="○"/>
            </a:pPr>
            <a:r>
              <a:rPr lang="en" sz="1000">
                <a:solidFill>
                  <a:srgbClr val="666666"/>
                </a:solidFill>
                <a:latin typeface="Inter"/>
                <a:ea typeface="Inter"/>
                <a:cs typeface="Inter"/>
                <a:sym typeface="Inter"/>
              </a:rPr>
              <a:t>Questions naming only a code (ECN-2024-0027) route to the wrong type</a:t>
            </a:r>
            <a:endParaRPr sz="1100">
              <a:solidFill>
                <a:srgbClr val="666666"/>
              </a:solidFill>
              <a:latin typeface="Inter"/>
              <a:ea typeface="Inter"/>
              <a:cs typeface="Inter"/>
              <a:sym typeface="Inter"/>
            </a:endParaRPr>
          </a:p>
          <a:p>
            <a:pPr indent="-298450" lvl="1" marL="914400" rtl="0" algn="l">
              <a:lnSpc>
                <a:spcPct val="115000"/>
              </a:lnSpc>
              <a:spcBef>
                <a:spcPts val="0"/>
              </a:spcBef>
              <a:spcAft>
                <a:spcPts val="0"/>
              </a:spcAft>
              <a:buClr>
                <a:srgbClr val="666666"/>
              </a:buClr>
              <a:buSzPts val="1100"/>
              <a:buFont typeface="Inter"/>
              <a:buChar char="○"/>
            </a:pPr>
            <a:r>
              <a:rPr lang="en" sz="1000">
                <a:solidFill>
                  <a:srgbClr val="666666"/>
                </a:solidFill>
                <a:latin typeface="Inter"/>
                <a:ea typeface="Inter"/>
                <a:cs typeface="Inter"/>
                <a:sym typeface="Inter"/>
              </a:rPr>
              <a:t>Confidence checks similarity and numbers, not completeness</a:t>
            </a:r>
            <a:endParaRPr sz="1100">
              <a:solidFill>
                <a:srgbClr val="666666"/>
              </a:solidFill>
              <a:latin typeface="Inter"/>
              <a:ea typeface="Inter"/>
              <a:cs typeface="Inter"/>
              <a:sym typeface="Inter"/>
            </a:endParaRPr>
          </a:p>
          <a:p>
            <a:pPr indent="-298450" lvl="0" marL="457200" rtl="0" algn="l">
              <a:lnSpc>
                <a:spcPct val="115000"/>
              </a:lnSpc>
              <a:spcBef>
                <a:spcPts val="1200"/>
              </a:spcBef>
              <a:spcAft>
                <a:spcPts val="0"/>
              </a:spcAft>
              <a:buClr>
                <a:srgbClr val="666666"/>
              </a:buClr>
              <a:buSzPts val="1100"/>
              <a:buFont typeface="Inter"/>
              <a:buAutoNum type="arabicPeriod"/>
            </a:pPr>
            <a:r>
              <a:rPr b="1" lang="en" sz="1000">
                <a:solidFill>
                  <a:srgbClr val="666666"/>
                </a:solidFill>
                <a:latin typeface="Inter"/>
                <a:ea typeface="Inter"/>
                <a:cs typeface="Inter"/>
                <a:sym typeface="Inter"/>
              </a:rPr>
              <a:t>Speed &amp; Scale</a:t>
            </a:r>
            <a:endParaRPr b="1" sz="1100">
              <a:solidFill>
                <a:srgbClr val="666666"/>
              </a:solidFill>
              <a:latin typeface="Inter"/>
              <a:ea typeface="Inter"/>
              <a:cs typeface="Inter"/>
              <a:sym typeface="Inter"/>
            </a:endParaRPr>
          </a:p>
          <a:p>
            <a:pPr indent="-298450" lvl="1" marL="914400" rtl="0" algn="l">
              <a:lnSpc>
                <a:spcPct val="115000"/>
              </a:lnSpc>
              <a:spcBef>
                <a:spcPts val="0"/>
              </a:spcBef>
              <a:spcAft>
                <a:spcPts val="0"/>
              </a:spcAft>
              <a:buClr>
                <a:srgbClr val="666666"/>
              </a:buClr>
              <a:buSzPts val="1100"/>
              <a:buFont typeface="Inter"/>
              <a:buChar char="○"/>
            </a:pPr>
            <a:r>
              <a:rPr lang="en" sz="1000">
                <a:solidFill>
                  <a:srgbClr val="666666"/>
                </a:solidFill>
                <a:latin typeface="Inter"/>
                <a:ea typeface="Inter"/>
                <a:cs typeface="Inter"/>
                <a:sym typeface="Inter"/>
              </a:rPr>
              <a:t>On CPU: 8.4 min to ingest 20 pages, ~33 s per answer</a:t>
            </a:r>
            <a:endParaRPr sz="1100">
              <a:solidFill>
                <a:srgbClr val="666666"/>
              </a:solidFill>
              <a:latin typeface="Inter"/>
              <a:ea typeface="Inter"/>
              <a:cs typeface="Inter"/>
              <a:sym typeface="Inter"/>
            </a:endParaRPr>
          </a:p>
          <a:p>
            <a:pPr indent="-298450" lvl="1" marL="914400" rtl="0" algn="l">
              <a:lnSpc>
                <a:spcPct val="115000"/>
              </a:lnSpc>
              <a:spcBef>
                <a:spcPts val="0"/>
              </a:spcBef>
              <a:spcAft>
                <a:spcPts val="0"/>
              </a:spcAft>
              <a:buClr>
                <a:srgbClr val="666666"/>
              </a:buClr>
              <a:buSzPts val="1100"/>
              <a:buFont typeface="Inter"/>
              <a:buChar char="○"/>
            </a:pPr>
            <a:r>
              <a:rPr lang="en" sz="1000">
                <a:solidFill>
                  <a:srgbClr val="666666"/>
                </a:solidFill>
                <a:latin typeface="Inter"/>
                <a:ea typeface="Inter"/>
                <a:cs typeface="Inter"/>
                <a:sym typeface="Inter"/>
              </a:rPr>
              <a:t>In-memory index rebuilt each session; no persistence for 1,000+ PDFs</a:t>
            </a:r>
            <a:endParaRPr sz="1100">
              <a:solidFill>
                <a:srgbClr val="666666"/>
              </a:solidFill>
              <a:latin typeface="Inter"/>
              <a:ea typeface="Inter"/>
              <a:cs typeface="Inter"/>
              <a:sym typeface="Inter"/>
            </a:endParaRPr>
          </a:p>
        </p:txBody>
      </p:sp>
      <p:sp>
        <p:nvSpPr>
          <p:cNvPr id="124" name="Google Shape;124;p20"/>
          <p:cNvSpPr/>
          <p:nvPr/>
        </p:nvSpPr>
        <p:spPr>
          <a:xfrm>
            <a:off x="5075400" y="956000"/>
            <a:ext cx="4068600" cy="4251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000">
                <a:solidFill>
                  <a:srgbClr val="666666"/>
                </a:solidFill>
                <a:latin typeface="Inter"/>
                <a:ea typeface="Inter"/>
                <a:cs typeface="Inter"/>
                <a:sym typeface="Inter"/>
              </a:rPr>
              <a:t>Proposed Enhancements</a:t>
            </a:r>
            <a:endParaRPr b="1" sz="1300">
              <a:solidFill>
                <a:srgbClr val="666666"/>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b="1" lang="en" sz="1000">
                <a:solidFill>
                  <a:srgbClr val="666666"/>
                </a:solidFill>
                <a:latin typeface="Inter"/>
                <a:ea typeface="Inter"/>
                <a:cs typeface="Inter"/>
                <a:sym typeface="Inter"/>
              </a:rPr>
              <a:t>Short-term (next 2 weeks):</a:t>
            </a:r>
            <a:endParaRPr b="1" sz="1100">
              <a:solidFill>
                <a:srgbClr val="666666"/>
              </a:solidFill>
              <a:latin typeface="Inter"/>
              <a:ea typeface="Inter"/>
              <a:cs typeface="Inter"/>
              <a:sym typeface="Inter"/>
            </a:endParaRPr>
          </a:p>
          <a:p>
            <a:pPr indent="-298450" lvl="0" marL="457200" rtl="0" algn="l">
              <a:lnSpc>
                <a:spcPct val="115000"/>
              </a:lnSpc>
              <a:spcBef>
                <a:spcPts val="1200"/>
              </a:spcBef>
              <a:spcAft>
                <a:spcPts val="0"/>
              </a:spcAft>
              <a:buClr>
                <a:srgbClr val="666666"/>
              </a:buClr>
              <a:buSzPts val="1100"/>
              <a:buFont typeface="Inter"/>
              <a:buChar char="●"/>
            </a:pPr>
            <a:r>
              <a:rPr lang="en" sz="1000">
                <a:solidFill>
                  <a:srgbClr val="666666"/>
                </a:solidFill>
                <a:latin typeface="Inter"/>
                <a:ea typeface="Inter"/>
                <a:cs typeface="Inter"/>
                <a:sym typeface="Inter"/>
              </a:rPr>
              <a:t>Completeness check for list and table questions (compare source rows with the answer)</a:t>
            </a:r>
            <a:endParaRPr sz="1100">
              <a:solidFill>
                <a:srgbClr val="666666"/>
              </a:solidFill>
              <a:latin typeface="Inter"/>
              <a:ea typeface="Inter"/>
              <a:cs typeface="Inter"/>
              <a:sym typeface="Inter"/>
            </a:endParaRPr>
          </a:p>
          <a:p>
            <a:pPr indent="-298450" lvl="0" marL="457200" rtl="0" algn="l">
              <a:lnSpc>
                <a:spcPct val="115000"/>
              </a:lnSpc>
              <a:spcBef>
                <a:spcPts val="0"/>
              </a:spcBef>
              <a:spcAft>
                <a:spcPts val="0"/>
              </a:spcAft>
              <a:buClr>
                <a:srgbClr val="666666"/>
              </a:buClr>
              <a:buSzPts val="1100"/>
              <a:buFont typeface="Inter"/>
              <a:buChar char="●"/>
            </a:pPr>
            <a:r>
              <a:rPr lang="en" sz="1000">
                <a:solidFill>
                  <a:srgbClr val="666666"/>
                </a:solidFill>
                <a:latin typeface="Inter"/>
                <a:ea typeface="Inter"/>
                <a:cs typeface="Inter"/>
                <a:sym typeface="Inter"/>
              </a:rPr>
              <a:t>Run on a T4 GPU and cache ingestion results between sessions</a:t>
            </a:r>
            <a:endParaRPr sz="1100">
              <a:solidFill>
                <a:srgbClr val="666666"/>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br>
              <a:rPr lang="en" sz="1100">
                <a:solidFill>
                  <a:srgbClr val="666666"/>
                </a:solidFill>
                <a:latin typeface="Inter"/>
                <a:ea typeface="Inter"/>
                <a:cs typeface="Inter"/>
                <a:sym typeface="Inter"/>
              </a:rPr>
            </a:br>
            <a:r>
              <a:rPr b="1" lang="en" sz="1000">
                <a:solidFill>
                  <a:srgbClr val="666666"/>
                </a:solidFill>
                <a:latin typeface="Inter"/>
                <a:ea typeface="Inter"/>
                <a:cs typeface="Inter"/>
                <a:sym typeface="Inter"/>
              </a:rPr>
              <a:t>Medium-term (next month):</a:t>
            </a:r>
            <a:endParaRPr b="1" sz="1100">
              <a:solidFill>
                <a:srgbClr val="666666"/>
              </a:solidFill>
              <a:latin typeface="Inter"/>
              <a:ea typeface="Inter"/>
              <a:cs typeface="Inter"/>
              <a:sym typeface="Inter"/>
            </a:endParaRPr>
          </a:p>
          <a:p>
            <a:pPr indent="-298450" lvl="0" marL="457200" rtl="0" algn="l">
              <a:lnSpc>
                <a:spcPct val="115000"/>
              </a:lnSpc>
              <a:spcBef>
                <a:spcPts val="1200"/>
              </a:spcBef>
              <a:spcAft>
                <a:spcPts val="0"/>
              </a:spcAft>
              <a:buClr>
                <a:srgbClr val="666666"/>
              </a:buClr>
              <a:buSzPts val="1100"/>
              <a:buFont typeface="Inter"/>
              <a:buChar char="●"/>
            </a:pPr>
            <a:r>
              <a:rPr lang="en" sz="1000">
                <a:solidFill>
                  <a:srgbClr val="666666"/>
                </a:solidFill>
                <a:latin typeface="Inter"/>
                <a:ea typeface="Inter"/>
                <a:cs typeface="Inter"/>
                <a:sym typeface="Inter"/>
              </a:rPr>
              <a:t>Hybrid BM25 + vector search with a cross-encoder reranker</a:t>
            </a:r>
            <a:endParaRPr sz="1100">
              <a:solidFill>
                <a:srgbClr val="666666"/>
              </a:solidFill>
              <a:latin typeface="Inter"/>
              <a:ea typeface="Inter"/>
              <a:cs typeface="Inter"/>
              <a:sym typeface="Inter"/>
            </a:endParaRPr>
          </a:p>
          <a:p>
            <a:pPr indent="-298450" lvl="0" marL="457200" rtl="0" algn="l">
              <a:lnSpc>
                <a:spcPct val="115000"/>
              </a:lnSpc>
              <a:spcBef>
                <a:spcPts val="0"/>
              </a:spcBef>
              <a:spcAft>
                <a:spcPts val="0"/>
              </a:spcAft>
              <a:buClr>
                <a:srgbClr val="666666"/>
              </a:buClr>
              <a:buSzPts val="1100"/>
              <a:buFont typeface="Inter"/>
              <a:buChar char="●"/>
            </a:pPr>
            <a:r>
              <a:rPr lang="en" sz="1000">
                <a:solidFill>
                  <a:srgbClr val="666666"/>
                </a:solidFill>
                <a:latin typeface="Inter"/>
                <a:ea typeface="Inter"/>
                <a:cs typeface="Inter"/>
                <a:sym typeface="Inter"/>
              </a:rPr>
              <a:t>Layout-aware table extraction for scanned pages</a:t>
            </a:r>
            <a:endParaRPr sz="1100">
              <a:solidFill>
                <a:srgbClr val="666666"/>
              </a:solidFill>
              <a:latin typeface="Inter"/>
              <a:ea typeface="Inter"/>
              <a:cs typeface="Inter"/>
              <a:sym typeface="Inter"/>
            </a:endParaRPr>
          </a:p>
          <a:p>
            <a:pPr indent="-298450" lvl="0" marL="457200" rtl="0" algn="l">
              <a:lnSpc>
                <a:spcPct val="115000"/>
              </a:lnSpc>
              <a:spcBef>
                <a:spcPts val="0"/>
              </a:spcBef>
              <a:spcAft>
                <a:spcPts val="0"/>
              </a:spcAft>
              <a:buClr>
                <a:srgbClr val="666666"/>
              </a:buClr>
              <a:buSzPts val="1100"/>
              <a:buFont typeface="Inter"/>
              <a:buChar char="●"/>
            </a:pPr>
            <a:r>
              <a:rPr lang="en" sz="1000">
                <a:solidFill>
                  <a:srgbClr val="666666"/>
                </a:solidFill>
                <a:latin typeface="Inter"/>
                <a:ea typeface="Inter"/>
                <a:cs typeface="Inter"/>
                <a:sym typeface="Inter"/>
              </a:rPr>
              <a:t>Grow the test set and re-run it on every change</a:t>
            </a:r>
            <a:endParaRPr sz="1100">
              <a:solidFill>
                <a:srgbClr val="666666"/>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b="1" lang="en" sz="1000">
                <a:solidFill>
                  <a:srgbClr val="666666"/>
                </a:solidFill>
                <a:latin typeface="Inter"/>
                <a:ea typeface="Inter"/>
                <a:cs typeface="Inter"/>
                <a:sym typeface="Inter"/>
              </a:rPr>
              <a:t>Long-term Vision:</a:t>
            </a:r>
            <a:endParaRPr b="1" sz="1100">
              <a:solidFill>
                <a:srgbClr val="666666"/>
              </a:solidFill>
              <a:latin typeface="Inter"/>
              <a:ea typeface="Inter"/>
              <a:cs typeface="Inter"/>
              <a:sym typeface="Inter"/>
            </a:endParaRPr>
          </a:p>
          <a:p>
            <a:pPr indent="-298450" lvl="0" marL="457200" rtl="0" algn="l">
              <a:lnSpc>
                <a:spcPct val="115000"/>
              </a:lnSpc>
              <a:spcBef>
                <a:spcPts val="1200"/>
              </a:spcBef>
              <a:spcAft>
                <a:spcPts val="0"/>
              </a:spcAft>
              <a:buClr>
                <a:srgbClr val="666666"/>
              </a:buClr>
              <a:buSzPts val="1100"/>
              <a:buFont typeface="Inter"/>
              <a:buChar char="●"/>
            </a:pPr>
            <a:r>
              <a:rPr lang="en" sz="1000">
                <a:solidFill>
                  <a:srgbClr val="666666"/>
                </a:solidFill>
                <a:latin typeface="Inter"/>
                <a:ea typeface="Inter"/>
                <a:cs typeface="Inter"/>
                <a:sym typeface="Inter"/>
              </a:rPr>
              <a:t>Persistent vector DB with supplier, product and lot metadata</a:t>
            </a:r>
            <a:endParaRPr sz="1100">
              <a:solidFill>
                <a:srgbClr val="666666"/>
              </a:solidFill>
              <a:latin typeface="Inter"/>
              <a:ea typeface="Inter"/>
              <a:cs typeface="Inter"/>
              <a:sym typeface="Inter"/>
            </a:endParaRPr>
          </a:p>
          <a:p>
            <a:pPr indent="-298450" lvl="0" marL="457200" rtl="0" algn="l">
              <a:lnSpc>
                <a:spcPct val="115000"/>
              </a:lnSpc>
              <a:spcBef>
                <a:spcPts val="0"/>
              </a:spcBef>
              <a:spcAft>
                <a:spcPts val="0"/>
              </a:spcAft>
              <a:buClr>
                <a:srgbClr val="666666"/>
              </a:buClr>
              <a:buSzPts val="1100"/>
              <a:buFont typeface="Inter"/>
              <a:buChar char="●"/>
            </a:pPr>
            <a:r>
              <a:rPr lang="en" sz="1000">
                <a:solidFill>
                  <a:srgbClr val="666666"/>
                </a:solidFill>
                <a:latin typeface="Inter"/>
                <a:ea typeface="Inter"/>
                <a:cs typeface="Inter"/>
                <a:sym typeface="Inter"/>
              </a:rPr>
              <a:t>Batch GPU ingestion for thousands of supplier PDFs</a:t>
            </a:r>
            <a:endParaRPr sz="1100">
              <a:solidFill>
                <a:srgbClr val="666666"/>
              </a:solidFill>
              <a:latin typeface="Inter"/>
              <a:ea typeface="Inter"/>
              <a:cs typeface="Inter"/>
              <a:sym typeface="Inter"/>
            </a:endParaRPr>
          </a:p>
          <a:p>
            <a:pPr indent="-298450" lvl="0" marL="457200" rtl="0" algn="l">
              <a:lnSpc>
                <a:spcPct val="115000"/>
              </a:lnSpc>
              <a:spcBef>
                <a:spcPts val="0"/>
              </a:spcBef>
              <a:spcAft>
                <a:spcPts val="0"/>
              </a:spcAft>
              <a:buClr>
                <a:srgbClr val="666666"/>
              </a:buClr>
              <a:buSzPts val="1100"/>
              <a:buFont typeface="Inter"/>
              <a:buChar char="●"/>
            </a:pPr>
            <a:r>
              <a:rPr lang="en" sz="1000">
                <a:solidFill>
                  <a:srgbClr val="666666"/>
                </a:solidFill>
                <a:latin typeface="Inter"/>
                <a:ea typeface="Inter"/>
                <a:cs typeface="Inter"/>
                <a:sym typeface="Inter"/>
              </a:rPr>
              <a:t>Connect to document management / QMS, with human review of Low-confidence answers</a:t>
            </a:r>
            <a:endParaRPr sz="1100">
              <a:solidFill>
                <a:srgbClr val="666666"/>
              </a:solidFill>
              <a:latin typeface="Inter"/>
              <a:ea typeface="Inter"/>
              <a:cs typeface="Inter"/>
              <a:sym typeface="Inter"/>
            </a:endParaRPr>
          </a:p>
        </p:txBody>
      </p:sp>
      <p:sp>
        <p:nvSpPr>
          <p:cNvPr id="125" name="Google Shape;125;p20"/>
          <p:cNvSpPr txBox="1"/>
          <p:nvPr/>
        </p:nvSpPr>
        <p:spPr>
          <a:xfrm>
            <a:off x="270100" y="281600"/>
            <a:ext cx="8639700" cy="585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400"/>
              </a:spcAft>
              <a:buNone/>
            </a:pPr>
            <a:r>
              <a:rPr lang="en" sz="1600">
                <a:solidFill>
                  <a:srgbClr val="666666"/>
                </a:solidFill>
                <a:latin typeface="Inter"/>
                <a:ea typeface="Inter"/>
                <a:cs typeface="Inter"/>
                <a:sym typeface="Inter"/>
              </a:rPr>
              <a:t>Current Limitations &amp; Next Steps | From Prototype to Production</a:t>
            </a:r>
            <a:endParaRPr sz="1600">
              <a:solidFill>
                <a:schemeClr val="dk2"/>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0"/>
          <p:cNvSpPr txBox="1"/>
          <p:nvPr/>
        </p:nvSpPr>
        <p:spPr>
          <a:xfrm>
            <a:off x="582875" y="956000"/>
            <a:ext cx="4225500" cy="3885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000">
                <a:solidFill>
                  <a:srgbClr val="666666"/>
                </a:solidFill>
                <a:latin typeface="Inter"/>
                <a:ea typeface="Inter"/>
                <a:cs typeface="Inter"/>
                <a:sym typeface="Inter"/>
              </a:rPr>
              <a:t>What I Learned</a:t>
            </a:r>
            <a:endParaRPr b="1" sz="1300">
              <a:solidFill>
                <a:srgbClr val="666666"/>
              </a:solidFill>
              <a:latin typeface="Inter"/>
              <a:ea typeface="Inter"/>
              <a:cs typeface="Inter"/>
              <a:sym typeface="Inter"/>
            </a:endParaRPr>
          </a:p>
          <a:p>
            <a:pPr indent="-298450" lvl="0" marL="457200" rtl="0" algn="l">
              <a:lnSpc>
                <a:spcPct val="115000"/>
              </a:lnSpc>
              <a:spcBef>
                <a:spcPts val="1200"/>
              </a:spcBef>
              <a:spcAft>
                <a:spcPts val="0"/>
              </a:spcAft>
              <a:buClr>
                <a:srgbClr val="666666"/>
              </a:buClr>
              <a:buSzPts val="1100"/>
              <a:buFont typeface="Inter"/>
              <a:buAutoNum type="arabicPeriod"/>
            </a:pPr>
            <a:r>
              <a:rPr b="1" lang="en" sz="1000">
                <a:solidFill>
                  <a:srgbClr val="666666"/>
                </a:solidFill>
                <a:latin typeface="Inter"/>
                <a:ea typeface="Inter"/>
                <a:cs typeface="Inter"/>
                <a:sym typeface="Inter"/>
              </a:rPr>
              <a:t>Technical</a:t>
            </a:r>
            <a:endParaRPr b="1" sz="1100">
              <a:solidFill>
                <a:srgbClr val="666666"/>
              </a:solidFill>
              <a:latin typeface="Inter"/>
              <a:ea typeface="Inter"/>
              <a:cs typeface="Inter"/>
              <a:sym typeface="Inter"/>
            </a:endParaRPr>
          </a:p>
          <a:p>
            <a:pPr indent="-298450" lvl="1" marL="914400" rtl="0" algn="l">
              <a:lnSpc>
                <a:spcPct val="115000"/>
              </a:lnSpc>
              <a:spcBef>
                <a:spcPts val="0"/>
              </a:spcBef>
              <a:spcAft>
                <a:spcPts val="0"/>
              </a:spcAft>
              <a:buClr>
                <a:srgbClr val="666666"/>
              </a:buClr>
              <a:buSzPts val="1100"/>
              <a:buFont typeface="Inter"/>
              <a:buChar char="○"/>
            </a:pPr>
            <a:r>
              <a:rPr lang="en" sz="1000">
                <a:solidFill>
                  <a:srgbClr val="666666"/>
                </a:solidFill>
                <a:latin typeface="Inter"/>
                <a:ea typeface="Inter"/>
                <a:cs typeface="Inter"/>
                <a:sym typeface="Inter"/>
              </a:rPr>
              <a:t>OCR repair (deskew, table rows), metadata-routed RAG, JSON-constrained LLM output</a:t>
            </a:r>
            <a:endParaRPr sz="1100">
              <a:solidFill>
                <a:srgbClr val="666666"/>
              </a:solidFill>
              <a:latin typeface="Inter"/>
              <a:ea typeface="Inter"/>
              <a:cs typeface="Inter"/>
              <a:sym typeface="Inter"/>
            </a:endParaRPr>
          </a:p>
          <a:p>
            <a:pPr indent="-298450" lvl="1" marL="914400" rtl="0" algn="l">
              <a:lnSpc>
                <a:spcPct val="115000"/>
              </a:lnSpc>
              <a:spcBef>
                <a:spcPts val="0"/>
              </a:spcBef>
              <a:spcAft>
                <a:spcPts val="0"/>
              </a:spcAft>
              <a:buClr>
                <a:srgbClr val="666666"/>
              </a:buClr>
              <a:buSzPts val="1100"/>
              <a:buFont typeface="Inter"/>
              <a:buChar char="○"/>
            </a:pPr>
            <a:r>
              <a:rPr lang="en" sz="1000">
                <a:solidFill>
                  <a:srgbClr val="666666"/>
                </a:solidFill>
                <a:latin typeface="Inter"/>
                <a:ea typeface="Inter"/>
                <a:cs typeface="Inter"/>
                <a:sym typeface="Inter"/>
              </a:rPr>
              <a:t>Evaluation: Recall@K, MRR, citation accuracy, re-running tests after every change</a:t>
            </a:r>
            <a:endParaRPr sz="1100">
              <a:solidFill>
                <a:srgbClr val="666666"/>
              </a:solidFill>
              <a:latin typeface="Inter"/>
              <a:ea typeface="Inter"/>
              <a:cs typeface="Inter"/>
              <a:sym typeface="Inter"/>
            </a:endParaRPr>
          </a:p>
          <a:p>
            <a:pPr indent="-298450" lvl="0" marL="457200" rtl="0" algn="l">
              <a:lnSpc>
                <a:spcPct val="115000"/>
              </a:lnSpc>
              <a:spcBef>
                <a:spcPts val="1200"/>
              </a:spcBef>
              <a:spcAft>
                <a:spcPts val="0"/>
              </a:spcAft>
              <a:buClr>
                <a:srgbClr val="666666"/>
              </a:buClr>
              <a:buSzPts val="1100"/>
              <a:buFont typeface="Inter"/>
              <a:buAutoNum type="arabicPeriod"/>
            </a:pPr>
            <a:r>
              <a:rPr b="1" lang="en" sz="1000">
                <a:solidFill>
                  <a:srgbClr val="666666"/>
                </a:solidFill>
                <a:latin typeface="Inter"/>
                <a:ea typeface="Inter"/>
                <a:cs typeface="Inter"/>
                <a:sym typeface="Inter"/>
              </a:rPr>
              <a:t>Skills Developed</a:t>
            </a:r>
            <a:endParaRPr b="1" sz="1100">
              <a:solidFill>
                <a:srgbClr val="666666"/>
              </a:solidFill>
              <a:latin typeface="Inter"/>
              <a:ea typeface="Inter"/>
              <a:cs typeface="Inter"/>
              <a:sym typeface="Inter"/>
            </a:endParaRPr>
          </a:p>
          <a:p>
            <a:pPr indent="-298450" lvl="1" marL="914400" rtl="0" algn="l">
              <a:lnSpc>
                <a:spcPct val="115000"/>
              </a:lnSpc>
              <a:spcBef>
                <a:spcPts val="0"/>
              </a:spcBef>
              <a:spcAft>
                <a:spcPts val="0"/>
              </a:spcAft>
              <a:buClr>
                <a:srgbClr val="666666"/>
              </a:buClr>
              <a:buSzPts val="1100"/>
              <a:buFont typeface="Inter"/>
              <a:buChar char="○"/>
            </a:pPr>
            <a:r>
              <a:rPr lang="en" sz="1000">
                <a:solidFill>
                  <a:srgbClr val="666666"/>
                </a:solidFill>
                <a:latin typeface="Inter"/>
                <a:ea typeface="Inter"/>
                <a:cs typeface="Inter"/>
                <a:sym typeface="Inter"/>
              </a:rPr>
              <a:t>Python, LlamaIndex, llama.cpp, EasyOCR, Gradio, prompt engineering</a:t>
            </a:r>
            <a:endParaRPr sz="1100">
              <a:solidFill>
                <a:srgbClr val="666666"/>
              </a:solidFill>
              <a:latin typeface="Inter"/>
              <a:ea typeface="Inter"/>
              <a:cs typeface="Inter"/>
              <a:sym typeface="Inter"/>
            </a:endParaRPr>
          </a:p>
          <a:p>
            <a:pPr indent="-298450" lvl="1" marL="914400" rtl="0" algn="l">
              <a:lnSpc>
                <a:spcPct val="115000"/>
              </a:lnSpc>
              <a:spcBef>
                <a:spcPts val="0"/>
              </a:spcBef>
              <a:spcAft>
                <a:spcPts val="0"/>
              </a:spcAft>
              <a:buClr>
                <a:srgbClr val="666666"/>
              </a:buClr>
              <a:buSzPts val="1100"/>
              <a:buFont typeface="Inter"/>
              <a:buChar char="○"/>
            </a:pPr>
            <a:r>
              <a:rPr lang="en" sz="1000">
                <a:solidFill>
                  <a:srgbClr val="666666"/>
                </a:solidFill>
                <a:latin typeface="Inter"/>
                <a:ea typeface="Inter"/>
                <a:cs typeface="Inter"/>
                <a:sym typeface="Inter"/>
              </a:rPr>
              <a:t>Problem-solving and documentation: reporting failures as well as wins</a:t>
            </a:r>
            <a:endParaRPr sz="1100">
              <a:solidFill>
                <a:srgbClr val="666666"/>
              </a:solidFill>
              <a:latin typeface="Inter"/>
              <a:ea typeface="Inter"/>
              <a:cs typeface="Inter"/>
              <a:sym typeface="Inter"/>
            </a:endParaRPr>
          </a:p>
          <a:p>
            <a:pPr indent="-298450" lvl="0" marL="457200" rtl="0" algn="l">
              <a:lnSpc>
                <a:spcPct val="115000"/>
              </a:lnSpc>
              <a:spcBef>
                <a:spcPts val="1200"/>
              </a:spcBef>
              <a:spcAft>
                <a:spcPts val="0"/>
              </a:spcAft>
              <a:buClr>
                <a:srgbClr val="666666"/>
              </a:buClr>
              <a:buSzPts val="1100"/>
              <a:buFont typeface="Inter"/>
              <a:buAutoNum type="arabicPeriod"/>
            </a:pPr>
            <a:r>
              <a:rPr b="1" lang="en" sz="1000">
                <a:solidFill>
                  <a:srgbClr val="666666"/>
                </a:solidFill>
                <a:latin typeface="Inter"/>
                <a:ea typeface="Inter"/>
                <a:cs typeface="Inter"/>
                <a:sym typeface="Inter"/>
              </a:rPr>
              <a:t>Biggest Lesson</a:t>
            </a:r>
            <a:endParaRPr b="1" sz="1100">
              <a:solidFill>
                <a:srgbClr val="666666"/>
              </a:solidFill>
              <a:latin typeface="Inter"/>
              <a:ea typeface="Inter"/>
              <a:cs typeface="Inter"/>
              <a:sym typeface="Inter"/>
            </a:endParaRPr>
          </a:p>
          <a:p>
            <a:pPr indent="-298450" lvl="1" marL="914400" rtl="0" algn="l">
              <a:lnSpc>
                <a:spcPct val="115000"/>
              </a:lnSpc>
              <a:spcBef>
                <a:spcPts val="0"/>
              </a:spcBef>
              <a:spcAft>
                <a:spcPts val="0"/>
              </a:spcAft>
              <a:buClr>
                <a:srgbClr val="666666"/>
              </a:buClr>
              <a:buSzPts val="1100"/>
              <a:buFont typeface="Inter"/>
              <a:buChar char="○"/>
            </a:pPr>
            <a:r>
              <a:rPr lang="en" sz="1000">
                <a:solidFill>
                  <a:srgbClr val="666666"/>
                </a:solidFill>
                <a:latin typeface="Inter"/>
                <a:ea typeface="Inter"/>
                <a:cs typeface="Inter"/>
                <a:sym typeface="Inter"/>
              </a:rPr>
              <a:t>Most accuracy gains came from fixing the input (OCR, chunking), not the model</a:t>
            </a:r>
            <a:endParaRPr sz="1100">
              <a:solidFill>
                <a:srgbClr val="666666"/>
              </a:solidFill>
              <a:latin typeface="Inter"/>
              <a:ea typeface="Inter"/>
              <a:cs typeface="Inter"/>
              <a:sym typeface="Inter"/>
            </a:endParaRPr>
          </a:p>
          <a:p>
            <a:pPr indent="-298450" lvl="1" marL="914400" rtl="0" algn="l">
              <a:lnSpc>
                <a:spcPct val="115000"/>
              </a:lnSpc>
              <a:spcBef>
                <a:spcPts val="0"/>
              </a:spcBef>
              <a:spcAft>
                <a:spcPts val="0"/>
              </a:spcAft>
              <a:buClr>
                <a:srgbClr val="666666"/>
              </a:buClr>
              <a:buSzPts val="1100"/>
              <a:buFont typeface="Inter"/>
              <a:buChar char="○"/>
            </a:pPr>
            <a:r>
              <a:rPr lang="en" sz="1000">
                <a:solidFill>
                  <a:srgbClr val="666666"/>
                </a:solidFill>
                <a:latin typeface="Inter"/>
                <a:ea typeface="Inter"/>
                <a:cs typeface="Inter"/>
                <a:sym typeface="Inter"/>
              </a:rPr>
              <a:t>Two fixes caused regressions that only a re-run of the tests revealed</a:t>
            </a:r>
            <a:endParaRPr sz="1100">
              <a:solidFill>
                <a:srgbClr val="666666"/>
              </a:solidFill>
              <a:latin typeface="Inter"/>
              <a:ea typeface="Inter"/>
              <a:cs typeface="Inter"/>
              <a:sym typeface="Inter"/>
            </a:endParaRPr>
          </a:p>
        </p:txBody>
      </p:sp>
      <p:sp>
        <p:nvSpPr>
          <p:cNvPr id="124" name="Google Shape;124;p20"/>
          <p:cNvSpPr/>
          <p:nvPr/>
        </p:nvSpPr>
        <p:spPr>
          <a:xfrm>
            <a:off x="5075400" y="956000"/>
            <a:ext cx="4068600" cy="4251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000">
                <a:solidFill>
                  <a:srgbClr val="666666"/>
                </a:solidFill>
                <a:latin typeface="Inter"/>
                <a:ea typeface="Inter"/>
                <a:cs typeface="Inter"/>
                <a:sym typeface="Inter"/>
              </a:rPr>
              <a:t>Potential Business Impact</a:t>
            </a:r>
            <a:endParaRPr b="1" sz="1300">
              <a:solidFill>
                <a:srgbClr val="666666"/>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b="1" lang="en" sz="1000">
                <a:solidFill>
                  <a:srgbClr val="666666"/>
                </a:solidFill>
                <a:latin typeface="Inter"/>
                <a:ea typeface="Inter"/>
                <a:cs typeface="Inter"/>
                <a:sym typeface="Inter"/>
              </a:rPr>
              <a:t>Faster document review:</a:t>
            </a:r>
            <a:endParaRPr b="1" sz="1100">
              <a:solidFill>
                <a:srgbClr val="666666"/>
              </a:solidFill>
              <a:latin typeface="Inter"/>
              <a:ea typeface="Inter"/>
              <a:cs typeface="Inter"/>
              <a:sym typeface="Inter"/>
            </a:endParaRPr>
          </a:p>
          <a:p>
            <a:pPr indent="-298450" lvl="0" marL="457200" rtl="0" algn="l">
              <a:lnSpc>
                <a:spcPct val="115000"/>
              </a:lnSpc>
              <a:spcBef>
                <a:spcPts val="1200"/>
              </a:spcBef>
              <a:spcAft>
                <a:spcPts val="0"/>
              </a:spcAft>
              <a:buClr>
                <a:srgbClr val="666666"/>
              </a:buClr>
              <a:buSzPts val="1100"/>
              <a:buFont typeface="Inter"/>
              <a:buChar char="●"/>
            </a:pPr>
            <a:r>
              <a:rPr lang="en" sz="1000">
                <a:solidFill>
                  <a:srgbClr val="666666"/>
                </a:solidFill>
                <a:latin typeface="Inter"/>
                <a:ea typeface="Inter"/>
                <a:cs typeface="Inter"/>
                <a:sym typeface="Inter"/>
              </a:rPr>
              <a:t>20 pages sorted into 15 typed documents automatically, with no manual sorting</a:t>
            </a:r>
            <a:endParaRPr sz="1100">
              <a:solidFill>
                <a:srgbClr val="666666"/>
              </a:solidFill>
              <a:latin typeface="Inter"/>
              <a:ea typeface="Inter"/>
              <a:cs typeface="Inter"/>
              <a:sym typeface="Inter"/>
            </a:endParaRPr>
          </a:p>
          <a:p>
            <a:pPr indent="-298450" lvl="0" marL="457200" rtl="0" algn="l">
              <a:lnSpc>
                <a:spcPct val="115000"/>
              </a:lnSpc>
              <a:spcBef>
                <a:spcPts val="0"/>
              </a:spcBef>
              <a:spcAft>
                <a:spcPts val="0"/>
              </a:spcAft>
              <a:buClr>
                <a:srgbClr val="666666"/>
              </a:buClr>
              <a:buSzPts val="1100"/>
              <a:buFont typeface="Inter"/>
              <a:buChar char="●"/>
            </a:pPr>
            <a:r>
              <a:rPr lang="en" sz="1000">
                <a:solidFill>
                  <a:srgbClr val="666666"/>
                </a:solidFill>
                <a:latin typeface="Inter"/>
                <a:ea typeface="Inter"/>
                <a:cs typeface="Inter"/>
                <a:sym typeface="Inter"/>
              </a:rPr>
              <a:t>Answers in about 30 s (CPU) with the exact page cited, instead of searching bundles by hand</a:t>
            </a:r>
            <a:endParaRPr sz="1100">
              <a:solidFill>
                <a:srgbClr val="666666"/>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br>
              <a:rPr lang="en" sz="1100">
                <a:solidFill>
                  <a:srgbClr val="666666"/>
                </a:solidFill>
                <a:latin typeface="Inter"/>
                <a:ea typeface="Inter"/>
                <a:cs typeface="Inter"/>
                <a:sym typeface="Inter"/>
              </a:rPr>
            </a:br>
            <a:r>
              <a:rPr b="1" lang="en" sz="1000">
                <a:solidFill>
                  <a:srgbClr val="666666"/>
                </a:solidFill>
                <a:latin typeface="Inter"/>
                <a:ea typeface="Inter"/>
                <a:cs typeface="Inter"/>
                <a:sym typeface="Inter"/>
              </a:rPr>
              <a:t>Trust and compliance:</a:t>
            </a:r>
            <a:endParaRPr b="1" sz="1100">
              <a:solidFill>
                <a:srgbClr val="666666"/>
              </a:solidFill>
              <a:latin typeface="Inter"/>
              <a:ea typeface="Inter"/>
              <a:cs typeface="Inter"/>
              <a:sym typeface="Inter"/>
            </a:endParaRPr>
          </a:p>
          <a:p>
            <a:pPr indent="-298450" lvl="0" marL="457200" rtl="0" algn="l">
              <a:lnSpc>
                <a:spcPct val="115000"/>
              </a:lnSpc>
              <a:spcBef>
                <a:spcPts val="1200"/>
              </a:spcBef>
              <a:spcAft>
                <a:spcPts val="0"/>
              </a:spcAft>
              <a:buClr>
                <a:srgbClr val="666666"/>
              </a:buClr>
              <a:buSzPts val="1100"/>
              <a:buFont typeface="Inter"/>
              <a:buChar char="●"/>
            </a:pPr>
            <a:r>
              <a:rPr lang="en" sz="1000">
                <a:solidFill>
                  <a:srgbClr val="666666"/>
                </a:solidFill>
                <a:latin typeface="Inter"/>
                <a:ea typeface="Inter"/>
                <a:cs typeface="Inter"/>
                <a:sym typeface="Inter"/>
              </a:rPr>
              <a:t>Every answer traceable to a page; Low confidence flags answers to double-check</a:t>
            </a:r>
            <a:endParaRPr sz="1100">
              <a:solidFill>
                <a:srgbClr val="666666"/>
              </a:solidFill>
              <a:latin typeface="Inter"/>
              <a:ea typeface="Inter"/>
              <a:cs typeface="Inter"/>
              <a:sym typeface="Inter"/>
            </a:endParaRPr>
          </a:p>
          <a:p>
            <a:pPr indent="-298450" lvl="0" marL="457200" rtl="0" algn="l">
              <a:lnSpc>
                <a:spcPct val="115000"/>
              </a:lnSpc>
              <a:spcBef>
                <a:spcPts val="0"/>
              </a:spcBef>
              <a:spcAft>
                <a:spcPts val="0"/>
              </a:spcAft>
              <a:buClr>
                <a:srgbClr val="666666"/>
              </a:buClr>
              <a:buSzPts val="1100"/>
              <a:buFont typeface="Inter"/>
              <a:buChar char="●"/>
            </a:pPr>
            <a:r>
              <a:rPr lang="en" sz="1000">
                <a:solidFill>
                  <a:srgbClr val="666666"/>
                </a:solidFill>
                <a:latin typeface="Inter"/>
                <a:ea typeface="Inter"/>
                <a:cs typeface="Inter"/>
                <a:sym typeface="Inter"/>
              </a:rPr>
              <a:t>Runs fully on-premise: no supplier data leaves the company</a:t>
            </a:r>
            <a:endParaRPr sz="1100">
              <a:solidFill>
                <a:srgbClr val="666666"/>
              </a:solidFill>
              <a:latin typeface="Inter"/>
              <a:ea typeface="Inter"/>
              <a:cs typeface="Inter"/>
              <a:sym typeface="Inter"/>
            </a:endParaRPr>
          </a:p>
          <a:p>
            <a:pPr indent="-298450" lvl="0" marL="457200" rtl="0" algn="l">
              <a:lnSpc>
                <a:spcPct val="115000"/>
              </a:lnSpc>
              <a:spcBef>
                <a:spcPts val="0"/>
              </a:spcBef>
              <a:spcAft>
                <a:spcPts val="0"/>
              </a:spcAft>
              <a:buClr>
                <a:srgbClr val="666666"/>
              </a:buClr>
              <a:buSzPts val="1100"/>
              <a:buFont typeface="Inter"/>
              <a:buChar char="●"/>
            </a:pPr>
            <a:r>
              <a:rPr lang="en" sz="1000">
                <a:solidFill>
                  <a:srgbClr val="666666"/>
                </a:solidFill>
                <a:latin typeface="Inter"/>
                <a:ea typeface="Inter"/>
                <a:cs typeface="Inter"/>
                <a:sym typeface="Inter"/>
              </a:rPr>
              <a:t>Open-source stack: no per-question API cost</a:t>
            </a:r>
            <a:endParaRPr sz="1100">
              <a:solidFill>
                <a:srgbClr val="666666"/>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b="1" lang="en" sz="1000">
                <a:solidFill>
                  <a:srgbClr val="666666"/>
                </a:solidFill>
                <a:latin typeface="Inter"/>
                <a:ea typeface="Inter"/>
                <a:cs typeface="Inter"/>
                <a:sym typeface="Inter"/>
              </a:rPr>
              <a:t>Where it fits:</a:t>
            </a:r>
            <a:endParaRPr b="1" sz="1100">
              <a:solidFill>
                <a:srgbClr val="666666"/>
              </a:solidFill>
              <a:latin typeface="Inter"/>
              <a:ea typeface="Inter"/>
              <a:cs typeface="Inter"/>
              <a:sym typeface="Inter"/>
            </a:endParaRPr>
          </a:p>
          <a:p>
            <a:pPr indent="-298450" lvl="0" marL="457200" rtl="0" algn="l">
              <a:lnSpc>
                <a:spcPct val="115000"/>
              </a:lnSpc>
              <a:spcBef>
                <a:spcPts val="1200"/>
              </a:spcBef>
              <a:spcAft>
                <a:spcPts val="0"/>
              </a:spcAft>
              <a:buClr>
                <a:srgbClr val="666666"/>
              </a:buClr>
              <a:buSzPts val="1100"/>
              <a:buFont typeface="Inter"/>
              <a:buChar char="●"/>
            </a:pPr>
            <a:r>
              <a:rPr lang="en" sz="1000">
                <a:solidFill>
                  <a:srgbClr val="666666"/>
                </a:solidFill>
                <a:latin typeface="Inter"/>
                <a:ea typeface="Inter"/>
                <a:cs typeface="Inter"/>
                <a:sym typeface="Inter"/>
              </a:rPr>
              <a:t>Supplier qualification and incoming-material review</a:t>
            </a:r>
            <a:endParaRPr sz="1100">
              <a:solidFill>
                <a:srgbClr val="666666"/>
              </a:solidFill>
              <a:latin typeface="Inter"/>
              <a:ea typeface="Inter"/>
              <a:cs typeface="Inter"/>
              <a:sym typeface="Inter"/>
            </a:endParaRPr>
          </a:p>
          <a:p>
            <a:pPr indent="-298450" lvl="0" marL="457200" rtl="0" algn="l">
              <a:lnSpc>
                <a:spcPct val="115000"/>
              </a:lnSpc>
              <a:spcBef>
                <a:spcPts val="0"/>
              </a:spcBef>
              <a:spcAft>
                <a:spcPts val="0"/>
              </a:spcAft>
              <a:buClr>
                <a:srgbClr val="666666"/>
              </a:buClr>
              <a:buSzPts val="1100"/>
              <a:buFont typeface="Inter"/>
              <a:buChar char="●"/>
            </a:pPr>
            <a:r>
              <a:rPr lang="en" sz="1000">
                <a:solidFill>
                  <a:srgbClr val="666666"/>
                </a:solidFill>
                <a:latin typeface="Inter"/>
                <a:ea typeface="Inter"/>
                <a:cs typeface="Inter"/>
                <a:sym typeface="Inter"/>
              </a:rPr>
              <a:t>Pre-filling compliance checklists from certificates</a:t>
            </a:r>
            <a:endParaRPr sz="1100">
              <a:solidFill>
                <a:srgbClr val="666666"/>
              </a:solidFill>
              <a:latin typeface="Inter"/>
              <a:ea typeface="Inter"/>
              <a:cs typeface="Inter"/>
              <a:sym typeface="Inter"/>
            </a:endParaRPr>
          </a:p>
          <a:p>
            <a:pPr indent="-298450" lvl="0" marL="457200" rtl="0" algn="l">
              <a:lnSpc>
                <a:spcPct val="115000"/>
              </a:lnSpc>
              <a:spcBef>
                <a:spcPts val="0"/>
              </a:spcBef>
              <a:spcAft>
                <a:spcPts val="0"/>
              </a:spcAft>
              <a:buClr>
                <a:srgbClr val="666666"/>
              </a:buClr>
              <a:buSzPts val="1100"/>
              <a:buFont typeface="Inter"/>
              <a:buChar char="●"/>
            </a:pPr>
            <a:r>
              <a:rPr lang="en" sz="1000">
                <a:solidFill>
                  <a:srgbClr val="666666"/>
                </a:solidFill>
                <a:latin typeface="Inter"/>
                <a:ea typeface="Inter"/>
                <a:cs typeface="Inter"/>
                <a:sym typeface="Inter"/>
              </a:rPr>
              <a:t>First-line answers for QA teams, with human review</a:t>
            </a:r>
            <a:endParaRPr sz="1100">
              <a:solidFill>
                <a:srgbClr val="666666"/>
              </a:solidFill>
              <a:latin typeface="Inter"/>
              <a:ea typeface="Inter"/>
              <a:cs typeface="Inter"/>
              <a:sym typeface="Inter"/>
            </a:endParaRPr>
          </a:p>
        </p:txBody>
      </p:sp>
      <p:sp>
        <p:nvSpPr>
          <p:cNvPr id="125" name="Google Shape;125;p20"/>
          <p:cNvSpPr txBox="1"/>
          <p:nvPr/>
        </p:nvSpPr>
        <p:spPr>
          <a:xfrm>
            <a:off x="270100" y="281600"/>
            <a:ext cx="8639700" cy="585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400"/>
              </a:spcAft>
              <a:buNone/>
            </a:pPr>
            <a:r>
              <a:rPr lang="en" sz="1600">
                <a:solidFill>
                  <a:srgbClr val="666666"/>
                </a:solidFill>
                <a:latin typeface="Inter"/>
                <a:ea typeface="Inter"/>
                <a:cs typeface="Inter"/>
                <a:sym typeface="Inter"/>
              </a:rPr>
              <a:t>Project Impact &amp; Learning Outcomes | What This Pipeline Enables</a:t>
            </a:r>
            <a:endParaRPr sz="1600">
              <a:solidFill>
                <a:schemeClr val="dk2"/>
              </a:solidFill>
              <a:latin typeface="Inter"/>
              <a:ea typeface="Inter"/>
              <a:cs typeface="Inter"/>
              <a:sym typeface="Int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EFFD"/>
        </a:solidFill>
      </p:bgPr>
    </p:bg>
    <p:spTree>
      <p:nvGrpSpPr>
        <p:cNvPr id="129" name="Shape 129"/>
        <p:cNvGrpSpPr/>
        <p:nvPr/>
      </p:nvGrpSpPr>
      <p:grpSpPr>
        <a:xfrm>
          <a:off x="0" y="0"/>
          <a:ext cx="0" cy="0"/>
          <a:chOff x="0" y="0"/>
          <a:chExt cx="0" cy="0"/>
        </a:xfrm>
      </p:grpSpPr>
      <p:sp>
        <p:nvSpPr>
          <p:cNvPr id="130" name="Google Shape;130;p21"/>
          <p:cNvSpPr txBox="1"/>
          <p:nvPr/>
        </p:nvSpPr>
        <p:spPr>
          <a:xfrm>
            <a:off x="354375" y="2152575"/>
            <a:ext cx="8334600" cy="19203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lang="en" sz="3800">
                <a:solidFill>
                  <a:schemeClr val="dk2"/>
                </a:solidFill>
                <a:latin typeface="Trebuchet MS"/>
                <a:ea typeface="Trebuchet MS"/>
                <a:cs typeface="Trebuchet MS"/>
                <a:sym typeface="Trebuchet MS"/>
              </a:rPr>
              <a:t>Thank you</a:t>
            </a:r>
            <a:endParaRPr sz="3800">
              <a:solidFill>
                <a:schemeClr val="dk2"/>
              </a:solidFill>
              <a:latin typeface="Trebuchet MS"/>
              <a:ea typeface="Trebuchet MS"/>
              <a:cs typeface="Trebuchet MS"/>
              <a:sym typeface="Trebuchet MS"/>
            </a:endParaRPr>
          </a:p>
          <a:p>
            <a:pPr indent="0" lvl="0" marL="0" rtl="0" algn="l">
              <a:lnSpc>
                <a:spcPct val="90000"/>
              </a:lnSpc>
              <a:spcBef>
                <a:spcPts val="0"/>
              </a:spcBef>
              <a:spcAft>
                <a:spcPts val="0"/>
              </a:spcAft>
              <a:buNone/>
            </a:pPr>
            <a:r>
              <a:t/>
            </a:r>
            <a:endParaRPr sz="3800">
              <a:solidFill>
                <a:srgbClr val="FFFFFF"/>
              </a:solidFill>
              <a:latin typeface="Trebuchet MS"/>
              <a:ea typeface="Trebuchet MS"/>
              <a:cs typeface="Trebuchet MS"/>
              <a:sym typeface="Trebuchet MS"/>
            </a:endParaRPr>
          </a:p>
          <a:p>
            <a:pPr indent="0" lvl="0" marL="0" rtl="0" algn="l">
              <a:lnSpc>
                <a:spcPct val="90000"/>
              </a:lnSpc>
              <a:spcBef>
                <a:spcPts val="0"/>
              </a:spcBef>
              <a:spcAft>
                <a:spcPts val="0"/>
              </a:spcAft>
              <a:buNone/>
            </a:pPr>
            <a:r>
              <a:t/>
            </a:r>
            <a:endParaRPr sz="3800">
              <a:solidFill>
                <a:srgbClr val="FFFFFF"/>
              </a:solidFill>
              <a:latin typeface="Trebuchet MS"/>
              <a:ea typeface="Trebuchet MS"/>
              <a:cs typeface="Trebuchet MS"/>
              <a:sym typeface="Trebuchet MS"/>
            </a:endParaRPr>
          </a:p>
        </p:txBody>
      </p:sp>
      <p:cxnSp>
        <p:nvCxnSpPr>
          <p:cNvPr id="131" name="Google Shape;131;p21"/>
          <p:cNvCxnSpPr/>
          <p:nvPr/>
        </p:nvCxnSpPr>
        <p:spPr>
          <a:xfrm>
            <a:off x="337650" y="2776875"/>
            <a:ext cx="8300400" cy="30300"/>
          </a:xfrm>
          <a:prstGeom prst="straightConnector1">
            <a:avLst/>
          </a:prstGeom>
          <a:noFill/>
          <a:ln cap="flat" cmpd="sng" w="19050">
            <a:solidFill>
              <a:schemeClr val="dk2"/>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